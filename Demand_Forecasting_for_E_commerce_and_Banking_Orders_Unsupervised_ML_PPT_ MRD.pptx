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1" r:id="rId3"/>
    <p:sldId id="323" r:id="rId4"/>
    <p:sldId id="324" r:id="rId5"/>
    <p:sldId id="325" r:id="rId6"/>
    <p:sldId id="326" r:id="rId7"/>
    <p:sldId id="327" r:id="rId8"/>
    <p:sldId id="329" r:id="rId9"/>
    <p:sldId id="330" r:id="rId10"/>
    <p:sldId id="331" r:id="rId11"/>
    <p:sldId id="332" r:id="rId12"/>
    <p:sldId id="333" r:id="rId13"/>
    <p:sldId id="334" r:id="rId14"/>
    <p:sldId id="335" r:id="rId15"/>
    <p:sldId id="336" r:id="rId16"/>
    <p:sldId id="337" r:id="rId17"/>
    <p:sldId id="339" r:id="rId18"/>
    <p:sldId id="340" r:id="rId19"/>
    <p:sldId id="341" r:id="rId20"/>
    <p:sldId id="342" r:id="rId21"/>
    <p:sldId id="343" r:id="rId22"/>
    <p:sldId id="344" r:id="rId23"/>
    <p:sldId id="345" r:id="rId24"/>
    <p:sldId id="346" r:id="rId25"/>
    <p:sldId id="34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61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91" d="100"/>
          <a:sy n="91" d="100"/>
        </p:scale>
        <p:origin x="23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EF6E-E45B-4FCE-90B5-2692630F6E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0FE3199-A4F1-4B22-BD76-CB2471AB2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F4A52F-D0EA-4489-8B88-A29B441D90A3}"/>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5" name="Footer Placeholder 4">
            <a:extLst>
              <a:ext uri="{FF2B5EF4-FFF2-40B4-BE49-F238E27FC236}">
                <a16:creationId xmlns:a16="http://schemas.microsoft.com/office/drawing/2014/main" id="{CF84DC58-F2BC-42EA-9AE8-7DE48F2347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D08E15-3E35-4BF3-8D02-AA881293AD0E}"/>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814347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F66E0-61E6-452D-A837-51F99EBC7B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A2996B-550A-422B-8C1E-E3BAE77D29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64E71C-1C8A-44D7-AB44-6B5D0657A426}"/>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5" name="Footer Placeholder 4">
            <a:extLst>
              <a:ext uri="{FF2B5EF4-FFF2-40B4-BE49-F238E27FC236}">
                <a16:creationId xmlns:a16="http://schemas.microsoft.com/office/drawing/2014/main" id="{749E54F9-7DC0-4640-9425-D229E58B4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F850FA-7A8F-4211-B03C-34F2D374167E}"/>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399524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F8E7D-3428-43EE-A694-A4BA6A5B7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A577D1A-FA6F-45D2-863A-7374829C2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4C82C9-EF31-42C1-88E8-5914CFF2ABCB}"/>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5" name="Footer Placeholder 4">
            <a:extLst>
              <a:ext uri="{FF2B5EF4-FFF2-40B4-BE49-F238E27FC236}">
                <a16:creationId xmlns:a16="http://schemas.microsoft.com/office/drawing/2014/main" id="{A2F3E44E-BFD7-46ED-8481-D8F0219D38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63C085-AF0D-4EDE-A353-5AAD8CA85BCC}"/>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3416920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4E2BB-C670-40C2-898A-F3C8F0E251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D601A3-3001-4320-9B04-4F54271E37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4E3344-DB49-47E8-B76F-0601BD2D7D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DB247E-5443-4C7A-AF27-99B661917042}"/>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6" name="Footer Placeholder 5">
            <a:extLst>
              <a:ext uri="{FF2B5EF4-FFF2-40B4-BE49-F238E27FC236}">
                <a16:creationId xmlns:a16="http://schemas.microsoft.com/office/drawing/2014/main" id="{505FCE49-C5C7-4AFB-AE96-667624B721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1B4173-250C-4483-A68D-4A0F3272F7A0}"/>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574536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5471F-3F7A-489E-8869-3C059E4599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8BA3D4-0D50-407C-89ED-3FAD563B43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22D70C-7E55-4A7A-9BB7-B38EE75A98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3DDBE8-A975-4FF1-BC79-AC7B6AAAB1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30225C-B5EB-4B7C-9295-B6719B877C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9C5F5E-53E3-4B01-A587-0369B462EFFA}"/>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8" name="Footer Placeholder 7">
            <a:extLst>
              <a:ext uri="{FF2B5EF4-FFF2-40B4-BE49-F238E27FC236}">
                <a16:creationId xmlns:a16="http://schemas.microsoft.com/office/drawing/2014/main" id="{E27838B7-A0E4-4866-AC68-5756CD62F2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CF943E-495D-42CA-AE58-34E0E0C983E0}"/>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870697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8D2FE-5C8B-4375-B914-2DA2BA5C6B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B256FC-7583-4B2A-A6DB-D156B31EAFFC}"/>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4" name="Footer Placeholder 3">
            <a:extLst>
              <a:ext uri="{FF2B5EF4-FFF2-40B4-BE49-F238E27FC236}">
                <a16:creationId xmlns:a16="http://schemas.microsoft.com/office/drawing/2014/main" id="{9B038448-7F6B-4D61-8E87-06F4809B9E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983071-D6DE-449F-BB6C-1CBAC949AA8B}"/>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3345712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D9DAD9-C792-477F-8C6A-D44A68D20315}"/>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3" name="Footer Placeholder 2">
            <a:extLst>
              <a:ext uri="{FF2B5EF4-FFF2-40B4-BE49-F238E27FC236}">
                <a16:creationId xmlns:a16="http://schemas.microsoft.com/office/drawing/2014/main" id="{546876D8-1B75-4A39-9148-45C92F5117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172D95-E9CD-4DE7-B30D-A66993E6DAD8}"/>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03273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87584-72A1-4816-927E-944A7F2B67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48EA4E-72B1-489F-8823-841A95BE94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06CCEA-7259-49E2-A187-51B3CF4D7B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AC1D5-8574-4D2F-97C0-31BEC5D85788}"/>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6" name="Footer Placeholder 5">
            <a:extLst>
              <a:ext uri="{FF2B5EF4-FFF2-40B4-BE49-F238E27FC236}">
                <a16:creationId xmlns:a16="http://schemas.microsoft.com/office/drawing/2014/main" id="{595DB4B9-7A89-430F-8525-AB0A822FFB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9BE456-F3E1-4C20-8F32-DA4DA3F8399F}"/>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889532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82E57-1D37-4704-9BF6-64E16AC1C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D7B9E1-18F8-428E-8960-3A5C339655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7640D0-ED5A-4491-8B8C-2A1364CDA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138044-4215-4430-B8F1-C0AD3036B818}"/>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6" name="Footer Placeholder 5">
            <a:extLst>
              <a:ext uri="{FF2B5EF4-FFF2-40B4-BE49-F238E27FC236}">
                <a16:creationId xmlns:a16="http://schemas.microsoft.com/office/drawing/2014/main" id="{CBD71ACA-89DC-422D-B2F5-5CE11BA4E6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38B2C6-152B-4178-85D0-5CE141CCDBCB}"/>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03039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BF994-29B0-4738-BBEB-A8753817A0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3F4AAC-D8B7-423F-A756-C821CF702E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6BAEC1-B9E4-4927-A5D9-48A4B4631AAC}"/>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5" name="Footer Placeholder 4">
            <a:extLst>
              <a:ext uri="{FF2B5EF4-FFF2-40B4-BE49-F238E27FC236}">
                <a16:creationId xmlns:a16="http://schemas.microsoft.com/office/drawing/2014/main" id="{9E22C3AA-88A3-495E-9283-0C66679DD8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C5BFD1-95BD-426F-A2FD-1413E64038AD}"/>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2147185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CB9FC4-BC55-4C9C-AF17-84959DA3D9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2CD9F2-88A8-4BE7-833F-690567492D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15F6EE-AC42-4785-906C-057593E7D26F}"/>
              </a:ext>
            </a:extLst>
          </p:cNvPr>
          <p:cNvSpPr>
            <a:spLocks noGrp="1"/>
          </p:cNvSpPr>
          <p:nvPr>
            <p:ph type="dt" sz="half" idx="10"/>
          </p:nvPr>
        </p:nvSpPr>
        <p:spPr/>
        <p:txBody>
          <a:bodyPr/>
          <a:lstStyle/>
          <a:p>
            <a:fld id="{C0905390-93AA-4EE1-980F-1A51A0E402D6}" type="datetimeFigureOut">
              <a:rPr lang="en-IN" smtClean="0"/>
              <a:t>21-11-2025</a:t>
            </a:fld>
            <a:endParaRPr lang="en-IN"/>
          </a:p>
        </p:txBody>
      </p:sp>
      <p:sp>
        <p:nvSpPr>
          <p:cNvPr id="5" name="Footer Placeholder 4">
            <a:extLst>
              <a:ext uri="{FF2B5EF4-FFF2-40B4-BE49-F238E27FC236}">
                <a16:creationId xmlns:a16="http://schemas.microsoft.com/office/drawing/2014/main" id="{56E2E20D-7A53-4E10-9B02-F7D7E5890F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2153AD-3A55-4865-9281-21E4DCBD51C9}"/>
              </a:ext>
            </a:extLst>
          </p:cNvPr>
          <p:cNvSpPr>
            <a:spLocks noGrp="1"/>
          </p:cNvSpPr>
          <p:nvPr>
            <p:ph type="sldNum" sz="quarter" idx="12"/>
          </p:nvPr>
        </p:nvSpPr>
        <p:spPr/>
        <p:txBody>
          <a:bodyPr/>
          <a:lstStyle/>
          <a:p>
            <a:fld id="{54BA697F-79C4-4984-B55B-108D077DDBFB}" type="slidenum">
              <a:rPr lang="en-IN" smtClean="0"/>
              <a:t>‹#›</a:t>
            </a:fld>
            <a:endParaRPr lang="en-IN"/>
          </a:p>
        </p:txBody>
      </p:sp>
    </p:spTree>
    <p:extLst>
      <p:ext uri="{BB962C8B-B14F-4D97-AF65-F5344CB8AC3E}">
        <p14:creationId xmlns:p14="http://schemas.microsoft.com/office/powerpoint/2010/main" val="15231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56850D-F602-4B32-87BC-32C4596F9B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36F220-9776-454E-9914-7A4980848D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06E903-E5F3-4E64-9D07-6BE9E4614B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905390-93AA-4EE1-980F-1A51A0E402D6}" type="datetimeFigureOut">
              <a:rPr lang="en-IN" smtClean="0"/>
              <a:t>21-11-2025</a:t>
            </a:fld>
            <a:endParaRPr lang="en-IN"/>
          </a:p>
        </p:txBody>
      </p:sp>
      <p:sp>
        <p:nvSpPr>
          <p:cNvPr id="5" name="Footer Placeholder 4">
            <a:extLst>
              <a:ext uri="{FF2B5EF4-FFF2-40B4-BE49-F238E27FC236}">
                <a16:creationId xmlns:a16="http://schemas.microsoft.com/office/drawing/2014/main" id="{6BBA19DC-ABAD-49A6-BD16-80BB7C8F22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D5567AB-D9F2-4BEE-ACA7-835F21DC34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A697F-79C4-4984-B55B-108D077DDBFB}" type="slidenum">
              <a:rPr lang="en-IN" smtClean="0"/>
              <a:t>‹#›</a:t>
            </a:fld>
            <a:endParaRPr lang="en-IN"/>
          </a:p>
        </p:txBody>
      </p:sp>
    </p:spTree>
    <p:extLst>
      <p:ext uri="{BB962C8B-B14F-4D97-AF65-F5344CB8AC3E}">
        <p14:creationId xmlns:p14="http://schemas.microsoft.com/office/powerpoint/2010/main" val="4275704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507CE85-D2DA-495A-9DB0-4259B8A0B850}"/>
              </a:ext>
            </a:extLst>
          </p:cNvPr>
          <p:cNvCxnSpPr>
            <a:cxnSpLocks/>
          </p:cNvCxnSpPr>
          <p:nvPr/>
        </p:nvCxnSpPr>
        <p:spPr>
          <a:xfrm>
            <a:off x="68957" y="1724187"/>
            <a:ext cx="12054086" cy="80712"/>
          </a:xfrm>
          <a:prstGeom prst="line">
            <a:avLst/>
          </a:prstGeom>
          <a:ln w="762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540BB2C-364E-4ECE-BBE9-D005358389BD}"/>
              </a:ext>
            </a:extLst>
          </p:cNvPr>
          <p:cNvSpPr txBox="1"/>
          <p:nvPr/>
        </p:nvSpPr>
        <p:spPr>
          <a:xfrm>
            <a:off x="186157" y="135460"/>
            <a:ext cx="10998734" cy="1446550"/>
          </a:xfrm>
          <a:prstGeom prst="rect">
            <a:avLst/>
          </a:prstGeom>
          <a:noFill/>
        </p:spPr>
        <p:txBody>
          <a:bodyPr wrap="square">
            <a:spAutoFit/>
          </a:bodyPr>
          <a:lstStyle/>
          <a:p>
            <a:pPr lvl="0" algn="ctr"/>
            <a:r>
              <a:rPr lang="en-GB" sz="4400" b="1" dirty="0">
                <a:solidFill>
                  <a:schemeClr val="accent5">
                    <a:lumMod val="75000"/>
                  </a:schemeClr>
                </a:solidFill>
                <a:latin typeface="Leelawadee" panose="020B0502040204020203" pitchFamily="34" charset="-34"/>
                <a:ea typeface="Yu Gothic UI Semibold" panose="020B0700000000000000" pitchFamily="34" charset="-128"/>
                <a:cs typeface="Leelawadee" panose="020B0502040204020203" pitchFamily="34" charset="-34"/>
              </a:rPr>
              <a:t>Demand Forecasting for E-commerce and Banking Orders</a:t>
            </a:r>
            <a:endParaRPr lang="en-IN" sz="4400" b="1" dirty="0">
              <a:solidFill>
                <a:schemeClr val="accent5">
                  <a:lumMod val="75000"/>
                </a:schemeClr>
              </a:solidFill>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56" name="TextBox 55">
            <a:extLst>
              <a:ext uri="{FF2B5EF4-FFF2-40B4-BE49-F238E27FC236}">
                <a16:creationId xmlns:a16="http://schemas.microsoft.com/office/drawing/2014/main" id="{2A27C017-9AE6-4740-8DF2-EE19751D5EC7}"/>
              </a:ext>
            </a:extLst>
          </p:cNvPr>
          <p:cNvSpPr txBox="1"/>
          <p:nvPr/>
        </p:nvSpPr>
        <p:spPr>
          <a:xfrm>
            <a:off x="6359770" y="6150316"/>
            <a:ext cx="6972993" cy="461665"/>
          </a:xfrm>
          <a:prstGeom prst="rect">
            <a:avLst/>
          </a:prstGeom>
          <a:noFill/>
        </p:spPr>
        <p:txBody>
          <a:bodyPr wrap="square">
            <a:spAutoFit/>
          </a:bodyPr>
          <a:lstStyle/>
          <a:p>
            <a:pPr lvl="0" algn="ctr"/>
            <a:r>
              <a:rPr lang="en-IN" sz="2400" b="1" u="sng" dirty="0">
                <a:solidFill>
                  <a:srgbClr val="266196"/>
                </a:solidFill>
                <a:latin typeface="+mj-lt"/>
                <a:ea typeface="Yu Gothic UI Semibold" panose="020B0700000000000000" pitchFamily="34" charset="-128"/>
                <a:cs typeface="Times New Roman" panose="02020603050405020304" pitchFamily="18" charset="0"/>
              </a:rPr>
              <a:t>Prepared By :- Milin Rao Deshmukh</a:t>
            </a:r>
          </a:p>
        </p:txBody>
      </p:sp>
      <p:pic>
        <p:nvPicPr>
          <p:cNvPr id="7" name="Picture 6">
            <a:extLst>
              <a:ext uri="{FF2B5EF4-FFF2-40B4-BE49-F238E27FC236}">
                <a16:creationId xmlns:a16="http://schemas.microsoft.com/office/drawing/2014/main" id="{A900DC6E-5E5F-428F-A8DF-3F5A156B9C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8126" y="1293001"/>
            <a:ext cx="5234796" cy="5234796"/>
          </a:xfrm>
          <a:prstGeom prst="rect">
            <a:avLst/>
          </a:prstGeom>
        </p:spPr>
      </p:pic>
    </p:spTree>
    <p:extLst>
      <p:ext uri="{BB962C8B-B14F-4D97-AF65-F5344CB8AC3E}">
        <p14:creationId xmlns:p14="http://schemas.microsoft.com/office/powerpoint/2010/main" val="3782077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359268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Agenda</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693664" y="1565340"/>
            <a:ext cx="10804672" cy="4893647"/>
          </a:xfrm>
          <a:prstGeom prst="rect">
            <a:avLst/>
          </a:prstGeom>
          <a:noFill/>
        </p:spPr>
        <p:txBody>
          <a:bodyPr wrap="square">
            <a:spAutoFit/>
          </a:bodyPr>
          <a:lstStyle/>
          <a:p>
            <a:pPr algn="just"/>
            <a:r>
              <a:rPr lang="en-GB" sz="2400" dirty="0"/>
              <a:t>Our agenda of project is to understand how order demand behaves across different e-commerce and banking sectors and to use data analysis and forecasting models to predict future order volumes. I begin by exploring the dataset to understand how urgent, non-urgent, and different order types fluctuate across days and weeks. After cleaning the data and identifying any outliers, I engineer meaningful features like lag values, rolling averages, and combined sector indicators to strengthen the patterns in the time series. Then, I apply clustering techniques to uncover hidden order </a:t>
            </a:r>
            <a:r>
              <a:rPr lang="en-GB" sz="2400" dirty="0" err="1"/>
              <a:t>behavior</a:t>
            </a:r>
            <a:r>
              <a:rPr lang="en-GB" sz="2400" dirty="0"/>
              <a:t> groups, followed by preparing the time series for forecasting through stationarity checks and transformations. With this foundation, I build ARIMA and SARIMA models to forecast future demand and compare their performance using evaluation metrics. Finally, I interpret the forecast, </a:t>
            </a:r>
            <a:r>
              <a:rPr lang="en-GB" sz="2400" dirty="0" err="1"/>
              <a:t>analyze</a:t>
            </a:r>
            <a:r>
              <a:rPr lang="en-GB" sz="2400" dirty="0"/>
              <a:t> the overall trend and derive business insights that can support better planning, staffing, and operational decision-making across the sectors.</a:t>
            </a: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Tree>
    <p:extLst>
      <p:ext uri="{BB962C8B-B14F-4D97-AF65-F5344CB8AC3E}">
        <p14:creationId xmlns:p14="http://schemas.microsoft.com/office/powerpoint/2010/main" val="2231720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800184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Problem Statement</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693664" y="1675542"/>
            <a:ext cx="10804672" cy="4693593"/>
          </a:xfrm>
          <a:prstGeom prst="rect">
            <a:avLst/>
          </a:prstGeom>
          <a:noFill/>
        </p:spPr>
        <p:txBody>
          <a:bodyPr wrap="square">
            <a:spAutoFit/>
          </a:bodyPr>
          <a:lstStyle/>
          <a:p>
            <a:r>
              <a:rPr lang="en-GB" sz="2300" dirty="0"/>
              <a:t>The challenge of this project is to understand and forecast how customers place orders across e-commerce and banking operations. Every day, the business receives a mix of urgent and non-urgent orders, multiple order types like A, B, and C, and requests coming from different sectors such as fiscal, traffic controller, and banking. These orders do not stay constant — some days show sudden spikes, while others drop unexpectedly.</a:t>
            </a:r>
            <a:br>
              <a:rPr lang="en-GB" sz="2300" dirty="0"/>
            </a:br>
            <a:r>
              <a:rPr lang="en-GB" sz="2300" dirty="0"/>
              <a:t>To plan resources, manage inventory, and maintain smooth operations, the business needs a clear view of future order demand. Without accurate forecasting, urgent orders may get delayed, staff may be over-allocated or underutilized, and overall service performance may suffer.</a:t>
            </a:r>
            <a:br>
              <a:rPr lang="en-GB" sz="2300" dirty="0"/>
            </a:br>
            <a:r>
              <a:rPr lang="en-GB" sz="2300" dirty="0"/>
              <a:t>This project aims to </a:t>
            </a:r>
            <a:r>
              <a:rPr lang="en-GB" sz="2300" dirty="0" err="1"/>
              <a:t>analyze</a:t>
            </a:r>
            <a:r>
              <a:rPr lang="en-GB" sz="2300" dirty="0"/>
              <a:t> historical patterns, understand how different order categories behave, identify hidden trends, and finally build forecasting models that can reliably predict upcoming demand. The goal is to support better decision-making by helping the business prepare for future order fluctuations with confidence.</a:t>
            </a: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Tree>
    <p:extLst>
      <p:ext uri="{BB962C8B-B14F-4D97-AF65-F5344CB8AC3E}">
        <p14:creationId xmlns:p14="http://schemas.microsoft.com/office/powerpoint/2010/main" val="4157783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800184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Data overview</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693664" y="1675542"/>
            <a:ext cx="10804672" cy="3416320"/>
          </a:xfrm>
          <a:prstGeom prst="rect">
            <a:avLst/>
          </a:prstGeom>
          <a:noFill/>
        </p:spPr>
        <p:txBody>
          <a:bodyPr wrap="square">
            <a:spAutoFit/>
          </a:bodyPr>
          <a:lstStyle/>
          <a:p>
            <a:pPr algn="just"/>
            <a:r>
              <a:rPr lang="en-GB" sz="2400" dirty="0"/>
              <a:t>The dataset contains daily records of different types of orders coming from both e-commerce and banking operations. Each entry includes urgent and non-urgent requests, order types A, B, and C, and orders from sectors like fiscal, traffic control, and banking. Along with these, we also have weekly and daily indicators that help us understand when demand rises or slows down. Since all features are numeric and the dataset is already clean, it provides a solid foundation to explore patterns, create engineered features, and build a reliable forecasting model. Overall, this dataset gives a complete picture of how customer demand behaves across multiple services and time periods.</a:t>
            </a:r>
            <a:endParaRPr lang="en-GB" sz="2300" dirty="0"/>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Tree>
    <p:extLst>
      <p:ext uri="{BB962C8B-B14F-4D97-AF65-F5344CB8AC3E}">
        <p14:creationId xmlns:p14="http://schemas.microsoft.com/office/powerpoint/2010/main" val="3732134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800184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Project Objectives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693664" y="1759432"/>
            <a:ext cx="10804672" cy="3046988"/>
          </a:xfrm>
          <a:prstGeom prst="rect">
            <a:avLst/>
          </a:prstGeom>
          <a:noFill/>
        </p:spPr>
        <p:txBody>
          <a:bodyPr wrap="square">
            <a:spAutoFit/>
          </a:bodyPr>
          <a:lstStyle/>
          <a:p>
            <a:pPr algn="just"/>
            <a:r>
              <a:rPr lang="en-GB" sz="2400" dirty="0"/>
              <a:t>The main objective of this project is to understand how customer demand behaves across different order categories and sectors, and then forecast future order volumes with reliable accuracy. To achieve this, we first </a:t>
            </a:r>
            <a:r>
              <a:rPr lang="en-GB" sz="2400" dirty="0" err="1"/>
              <a:t>analyze</a:t>
            </a:r>
            <a:r>
              <a:rPr lang="en-GB" sz="2400" dirty="0"/>
              <a:t> overall demand patterns, explore how different order types contribute to the total, and identify the factors that influence fluctuations. We also engineer meaningful features, group similar demand </a:t>
            </a:r>
            <a:r>
              <a:rPr lang="en-GB" sz="2400" dirty="0" err="1"/>
              <a:t>behaviors</a:t>
            </a:r>
            <a:r>
              <a:rPr lang="en-GB" sz="2400" dirty="0"/>
              <a:t> through clustering, and build ARIMA/SARIMA forecasting models to predict upcoming orders. Ultimately, the goal is to help businesses plan resources better, manage workloads efficiently, and stay prepared for sudden changes in demand.</a:t>
            </a:r>
            <a:endParaRPr lang="en-GB" sz="2300" dirty="0"/>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Tree>
    <p:extLst>
      <p:ext uri="{BB962C8B-B14F-4D97-AF65-F5344CB8AC3E}">
        <p14:creationId xmlns:p14="http://schemas.microsoft.com/office/powerpoint/2010/main" val="1188858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800184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Dataset Overview</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693664" y="1759432"/>
            <a:ext cx="10804672" cy="3785652"/>
          </a:xfrm>
          <a:prstGeom prst="rect">
            <a:avLst/>
          </a:prstGeom>
          <a:noFill/>
        </p:spPr>
        <p:txBody>
          <a:bodyPr wrap="square">
            <a:spAutoFit/>
          </a:bodyPr>
          <a:lstStyle/>
          <a:p>
            <a:r>
              <a:rPr lang="en-GB" sz="2400" dirty="0"/>
              <a:t>The dataset captures real-world order activity from an integrated E-commerce + Banking system.</a:t>
            </a:r>
            <a:br>
              <a:rPr lang="en-GB" sz="2400" dirty="0"/>
            </a:br>
            <a:r>
              <a:rPr lang="en-GB" sz="2400" dirty="0"/>
              <a:t>It includes daily records showing how different types of orders behave across weeks, days, and sectors.</a:t>
            </a:r>
          </a:p>
          <a:p>
            <a:r>
              <a:rPr lang="en-GB" sz="2400" b="1" dirty="0"/>
              <a:t>Key Highlights:</a:t>
            </a:r>
            <a:endParaRPr lang="en-GB" sz="2400" dirty="0"/>
          </a:p>
          <a:p>
            <a:pPr>
              <a:buFont typeface="Arial" panose="020B0604020202020204" pitchFamily="34" charset="0"/>
              <a:buChar char="•"/>
            </a:pPr>
            <a:r>
              <a:rPr lang="en-GB" sz="2400" dirty="0"/>
              <a:t>Covers multiple order categories including urgent, non-urgent, and three banking order types.</a:t>
            </a:r>
          </a:p>
          <a:p>
            <a:pPr>
              <a:buFont typeface="Arial" panose="020B0604020202020204" pitchFamily="34" charset="0"/>
              <a:buChar char="•"/>
            </a:pPr>
            <a:r>
              <a:rPr lang="en-GB" sz="2400" dirty="0"/>
              <a:t>Contains week-of-month and day-of-week information to capture temporal </a:t>
            </a:r>
            <a:r>
              <a:rPr lang="en-GB" sz="2400" dirty="0" err="1"/>
              <a:t>behavior</a:t>
            </a:r>
            <a:r>
              <a:rPr lang="en-GB" sz="2400" dirty="0"/>
              <a:t>.</a:t>
            </a:r>
          </a:p>
          <a:p>
            <a:pPr>
              <a:buFont typeface="Arial" panose="020B0604020202020204" pitchFamily="34" charset="0"/>
              <a:buChar char="•"/>
            </a:pPr>
            <a:r>
              <a:rPr lang="en-GB" sz="2400" dirty="0"/>
              <a:t>All columns are numerical, making the data clean and ready for ML </a:t>
            </a:r>
            <a:r>
              <a:rPr lang="en-GB" sz="2400" dirty="0" err="1"/>
              <a:t>modeling</a:t>
            </a:r>
            <a:r>
              <a:rPr lang="en-GB" sz="2400" dirty="0"/>
              <a:t>.</a:t>
            </a:r>
          </a:p>
          <a:p>
            <a:pPr>
              <a:buFont typeface="Arial" panose="020B0604020202020204" pitchFamily="34" charset="0"/>
              <a:buChar char="•"/>
            </a:pPr>
            <a:r>
              <a:rPr lang="en-GB" sz="2400" dirty="0"/>
              <a:t>Dataset size is suitable for time-series forecasting without heavy </a:t>
            </a:r>
            <a:r>
              <a:rPr lang="en-GB" sz="2400" dirty="0" err="1"/>
              <a:t>preprocessing</a:t>
            </a:r>
            <a:r>
              <a:rPr lang="en-GB" sz="2400" dirty="0"/>
              <a:t>.</a:t>
            </a: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Tree>
    <p:extLst>
      <p:ext uri="{BB962C8B-B14F-4D97-AF65-F5344CB8AC3E}">
        <p14:creationId xmlns:p14="http://schemas.microsoft.com/office/powerpoint/2010/main" val="859847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8001841"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Data Cleaning</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601385" y="1565340"/>
            <a:ext cx="10804672" cy="4893647"/>
          </a:xfrm>
          <a:prstGeom prst="rect">
            <a:avLst/>
          </a:prstGeom>
          <a:noFill/>
        </p:spPr>
        <p:txBody>
          <a:bodyPr wrap="square">
            <a:spAutoFit/>
          </a:bodyPr>
          <a:lstStyle/>
          <a:p>
            <a:r>
              <a:rPr lang="en-GB" sz="2400" dirty="0"/>
              <a:t>Before </a:t>
            </a:r>
            <a:r>
              <a:rPr lang="en-GB" sz="2400" dirty="0" err="1"/>
              <a:t>modeling</a:t>
            </a:r>
            <a:r>
              <a:rPr lang="en-GB" sz="2400" dirty="0"/>
              <a:t>, the dataset was carefully validated to ensure accuracy and reliability.</a:t>
            </a:r>
            <a:br>
              <a:rPr lang="en-GB" sz="2400" dirty="0"/>
            </a:br>
            <a:r>
              <a:rPr lang="en-GB" sz="2400" dirty="0"/>
              <a:t>The cleaning process was kept minimal because the dataset was already well-structured.</a:t>
            </a:r>
          </a:p>
          <a:p>
            <a:r>
              <a:rPr lang="en-GB" sz="2400" b="1" dirty="0"/>
              <a:t>Key Steps Performed:</a:t>
            </a:r>
            <a:endParaRPr lang="en-GB" sz="2400" dirty="0"/>
          </a:p>
          <a:p>
            <a:pPr>
              <a:buFont typeface="Arial" panose="020B0604020202020204" pitchFamily="34" charset="0"/>
              <a:buChar char="•"/>
            </a:pPr>
            <a:r>
              <a:rPr lang="en-GB" sz="2400" b="1" dirty="0"/>
              <a:t>Duplicate Check:</a:t>
            </a:r>
            <a:r>
              <a:rPr lang="en-GB" sz="2400" dirty="0"/>
              <a:t> Verified that the data contained </a:t>
            </a:r>
            <a:r>
              <a:rPr lang="en-GB" sz="2400" i="1" dirty="0"/>
              <a:t>zero duplicate rows</a:t>
            </a:r>
            <a:r>
              <a:rPr lang="en-GB" sz="2400" dirty="0"/>
              <a:t>, ensuring no repeated records influenced trends.</a:t>
            </a:r>
          </a:p>
          <a:p>
            <a:pPr>
              <a:buFont typeface="Arial" panose="020B0604020202020204" pitchFamily="34" charset="0"/>
              <a:buChar char="•"/>
            </a:pPr>
            <a:r>
              <a:rPr lang="en-GB" sz="2400" b="1" dirty="0"/>
              <a:t>Missing Value Check:</a:t>
            </a:r>
            <a:r>
              <a:rPr lang="en-GB" sz="2400" dirty="0"/>
              <a:t> Confirmed that </a:t>
            </a:r>
            <a:r>
              <a:rPr lang="en-GB" sz="2400" i="1" dirty="0"/>
              <a:t>no missing values</a:t>
            </a:r>
            <a:r>
              <a:rPr lang="en-GB" sz="2400" dirty="0"/>
              <a:t> existed across any feature, meaning no imputation was required.</a:t>
            </a:r>
          </a:p>
          <a:p>
            <a:pPr>
              <a:buFont typeface="Arial" panose="020B0604020202020204" pitchFamily="34" charset="0"/>
              <a:buChar char="•"/>
            </a:pPr>
            <a:r>
              <a:rPr lang="en-GB" sz="2400" b="1" dirty="0"/>
              <a:t>Unnecessary Columns Removed:</a:t>
            </a:r>
            <a:r>
              <a:rPr lang="en-GB" sz="2400" dirty="0"/>
              <a:t> Removed an index-like column (“Unnamed: 0”) to avoid redundancy.</a:t>
            </a:r>
          </a:p>
          <a:p>
            <a:pPr>
              <a:buFont typeface="Arial" panose="020B0604020202020204" pitchFamily="34" charset="0"/>
              <a:buChar char="•"/>
            </a:pPr>
            <a:r>
              <a:rPr lang="en-GB" sz="2400" b="1" dirty="0"/>
              <a:t>Basic Validation:</a:t>
            </a:r>
            <a:r>
              <a:rPr lang="en-GB" sz="2400" dirty="0"/>
              <a:t> Ensured all features were numerical and in the correct format for analysis and forecasting.</a:t>
            </a: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Tree>
    <p:extLst>
      <p:ext uri="{BB962C8B-B14F-4D97-AF65-F5344CB8AC3E}">
        <p14:creationId xmlns:p14="http://schemas.microsoft.com/office/powerpoint/2010/main" val="1626770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6567B30-5307-4D5D-84E6-2E2748C11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7924" y="1621370"/>
            <a:ext cx="3959611" cy="4959559"/>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0216535"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EDA (Univariate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53760" y="1535676"/>
            <a:ext cx="7424163" cy="5632311"/>
          </a:xfrm>
          <a:prstGeom prst="rect">
            <a:avLst/>
          </a:prstGeom>
          <a:noFill/>
        </p:spPr>
        <p:txBody>
          <a:bodyPr wrap="square">
            <a:spAutoFit/>
          </a:bodyPr>
          <a:lstStyle/>
          <a:p>
            <a:r>
              <a:rPr lang="en-GB" sz="2000" b="1" u="sng" dirty="0">
                <a:latin typeface="Arial" panose="020B0604020202020204" pitchFamily="34" charset="0"/>
                <a:cs typeface="Arial" panose="020B0604020202020204" pitchFamily="34" charset="0"/>
              </a:rPr>
              <a:t>Approach</a:t>
            </a:r>
          </a:p>
          <a:p>
            <a:r>
              <a:rPr lang="en-GB" sz="2000" dirty="0">
                <a:latin typeface="Arial" panose="020B0604020202020204" pitchFamily="34" charset="0"/>
                <a:cs typeface="Arial" panose="020B0604020202020204" pitchFamily="34" charset="0"/>
              </a:rPr>
              <a:t>To understand how demand behaves, I first explored each numerical feature individually. By visualizing their distributions, I quickly identified which order types show steady </a:t>
            </a:r>
            <a:r>
              <a:rPr lang="en-GB" sz="2000" dirty="0" err="1">
                <a:latin typeface="Arial" panose="020B0604020202020204" pitchFamily="34" charset="0"/>
                <a:cs typeface="Arial" panose="020B0604020202020204" pitchFamily="34" charset="0"/>
              </a:rPr>
              <a:t>behavior</a:t>
            </a:r>
            <a:r>
              <a:rPr lang="en-GB" sz="2000" dirty="0">
                <a:latin typeface="Arial" panose="020B0604020202020204" pitchFamily="34" charset="0"/>
                <a:cs typeface="Arial" panose="020B0604020202020204" pitchFamily="34" charset="0"/>
              </a:rPr>
              <a:t> and which ones fluctuate sharply. This helped me build an initial mental picture of the dataset before diving into deeper analysis.</a:t>
            </a:r>
          </a:p>
          <a:p>
            <a:endParaRPr lang="en-GB" sz="2000" b="1" dirty="0">
              <a:latin typeface="Arial" panose="020B0604020202020204" pitchFamily="34" charset="0"/>
              <a:cs typeface="Arial" panose="020B0604020202020204" pitchFamily="34" charset="0"/>
            </a:endParaRPr>
          </a:p>
          <a:p>
            <a:r>
              <a:rPr lang="en-GB" sz="2000" b="1" u="sng" dirty="0">
                <a:latin typeface="Arial" panose="020B0604020202020204" pitchFamily="34" charset="0"/>
                <a:cs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Most features show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right-skewed demand</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indicating occasional order spikes.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Non-urgent orders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form a smooth, dominant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Urgent orders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are more volatile and less frequent.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Order Type C</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displays the widest spread, suggesting irregular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Banking order categories exhibit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consistent activity patterns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across days.</a:t>
            </a:r>
          </a:p>
          <a:p>
            <a:endParaRPr lang="en-GB" sz="2000" b="1" u="sng" dirty="0">
              <a:latin typeface="Arial" panose="020B0604020202020204" pitchFamily="34" charset="0"/>
              <a:cs typeface="Arial" panose="020B0604020202020204" pitchFamily="34" charset="0"/>
            </a:endParaRPr>
          </a:p>
          <a:p>
            <a:endParaRPr lang="en-GB" sz="2000" b="1" u="sng"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Tree>
    <p:extLst>
      <p:ext uri="{BB962C8B-B14F-4D97-AF65-F5344CB8AC3E}">
        <p14:creationId xmlns:p14="http://schemas.microsoft.com/office/powerpoint/2010/main" val="1080012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a:extLst>
              <a:ext uri="{FF2B5EF4-FFF2-40B4-BE49-F238E27FC236}">
                <a16:creationId xmlns:a16="http://schemas.microsoft.com/office/drawing/2014/main" id="{D631A8BF-49C0-49AB-B392-F52A706E5D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5888" y="1903960"/>
            <a:ext cx="4676112" cy="3373548"/>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EDA (Bivariate-Correlation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53760" y="1535676"/>
            <a:ext cx="7424163" cy="5016758"/>
          </a:xfrm>
          <a:prstGeom prst="rect">
            <a:avLst/>
          </a:prstGeom>
          <a:noFill/>
        </p:spPr>
        <p:txBody>
          <a:bodyPr wrap="square">
            <a:spAutoFit/>
          </a:bodyPr>
          <a:lstStyle/>
          <a:p>
            <a:r>
              <a:rPr lang="en-GB" sz="2000" b="1" u="sng" dirty="0">
                <a:latin typeface="Arial" panose="020B0604020202020204" pitchFamily="34" charset="0"/>
                <a:cs typeface="Arial" panose="020B0604020202020204" pitchFamily="34" charset="0"/>
              </a:rPr>
              <a:t>Approach</a:t>
            </a:r>
          </a:p>
          <a:p>
            <a:r>
              <a:rPr lang="en-GB" sz="2000" dirty="0"/>
              <a:t>To understand how different order categories interact with each other, I explored their correlations. This step helped me see which features move together and which ones influence the total demand the most. By visualizing the correlation heatmap, I could quickly detect strong relationships and potential drivers of order volume.</a:t>
            </a:r>
          </a:p>
          <a:p>
            <a:endParaRPr lang="en-GB" sz="2000" b="1" dirty="0">
              <a:latin typeface="Arial" panose="020B0604020202020204" pitchFamily="34" charset="0"/>
              <a:cs typeface="Arial" panose="020B0604020202020204" pitchFamily="34" charset="0"/>
            </a:endParaRPr>
          </a:p>
          <a:p>
            <a:r>
              <a:rPr lang="en-GB" sz="2000" b="1" u="sng" dirty="0">
                <a:latin typeface="Arial" panose="020B0604020202020204" pitchFamily="34" charset="0"/>
                <a:cs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Total orders show </a:t>
            </a:r>
            <a:r>
              <a:rPr kumimoji="0" lang="en-US" altLang="en-US" sz="2000" b="1" i="0" u="none" strike="noStrike" cap="none" normalizeH="0" baseline="0" dirty="0">
                <a:ln>
                  <a:noFill/>
                </a:ln>
                <a:solidFill>
                  <a:schemeClr val="tx1"/>
                </a:solidFill>
                <a:effectLst/>
                <a:latin typeface="Arial" panose="020B0604020202020204" pitchFamily="34" charset="0"/>
              </a:rPr>
              <a:t>strong positive correlation</a:t>
            </a:r>
            <a:r>
              <a:rPr kumimoji="0" lang="en-US" altLang="en-US" sz="2000" b="0" i="0" u="none" strike="noStrike" cap="none" normalizeH="0" baseline="0" dirty="0">
                <a:ln>
                  <a:noFill/>
                </a:ln>
                <a:solidFill>
                  <a:schemeClr val="tx1"/>
                </a:solidFill>
                <a:effectLst/>
                <a:latin typeface="Arial" panose="020B0604020202020204" pitchFamily="34" charset="0"/>
              </a:rPr>
              <a:t> with non-urgent and urgent orders.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Order Type C</a:t>
            </a:r>
            <a:r>
              <a:rPr kumimoji="0" lang="en-US" altLang="en-US" sz="2000" b="0" i="0" u="none" strike="noStrike" cap="none" normalizeH="0" baseline="0" dirty="0">
                <a:ln>
                  <a:noFill/>
                </a:ln>
                <a:solidFill>
                  <a:schemeClr val="tx1"/>
                </a:solidFill>
                <a:effectLst/>
                <a:latin typeface="Arial" panose="020B0604020202020204" pitchFamily="34" charset="0"/>
              </a:rPr>
              <a:t> has the strongest relationship with overall demand compared to A and 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Banking order categories (1/2/3) also correlate well with total orders, indicating that they significantly contribute to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Fiscal and traffic controller orders have </a:t>
            </a:r>
            <a:r>
              <a:rPr kumimoji="0" lang="en-US" altLang="en-US" sz="2000" b="1" i="0" u="none" strike="noStrike" cap="none" normalizeH="0" baseline="0" dirty="0">
                <a:ln>
                  <a:noFill/>
                </a:ln>
                <a:solidFill>
                  <a:schemeClr val="tx1"/>
                </a:solidFill>
                <a:effectLst/>
                <a:latin typeface="Arial" panose="020B0604020202020204" pitchFamily="34" charset="0"/>
              </a:rPr>
              <a:t>moderate but consistent</a:t>
            </a:r>
            <a:r>
              <a:rPr kumimoji="0" lang="en-US" altLang="en-US" sz="2000" b="0" i="0" u="none" strike="noStrike" cap="none" normalizeH="0" baseline="0" dirty="0">
                <a:ln>
                  <a:noFill/>
                </a:ln>
                <a:solidFill>
                  <a:schemeClr val="tx1"/>
                </a:solidFill>
                <a:effectLst/>
                <a:latin typeface="Arial" panose="020B0604020202020204" pitchFamily="34" charset="0"/>
              </a:rPr>
              <a:t> correlations.</a:t>
            </a:r>
            <a:endParaRPr lang="en-GB" sz="2000" b="1" u="sng"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3424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EDA (Banking &amp; Sector-wise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7" y="1503784"/>
            <a:ext cx="8112069" cy="5016758"/>
          </a:xfrm>
          <a:prstGeom prst="rect">
            <a:avLst/>
          </a:prstGeom>
          <a:noFill/>
        </p:spPr>
        <p:txBody>
          <a:bodyPr wrap="square">
            <a:spAutoFit/>
          </a:bodyPr>
          <a:lstStyle/>
          <a:p>
            <a:r>
              <a:rPr lang="en-GB" sz="2000" b="1" u="sng" dirty="0">
                <a:latin typeface="Arial" panose="020B0604020202020204" pitchFamily="34" charset="0"/>
                <a:cs typeface="Arial" panose="020B0604020202020204" pitchFamily="34" charset="0"/>
              </a:rPr>
              <a:t>Approach</a:t>
            </a:r>
          </a:p>
          <a:p>
            <a:r>
              <a:rPr lang="en-GB" sz="2000" dirty="0"/>
              <a:t>To understand how different sectors contribute to total demand, I compared the trends of all banking-related orders and other sector orders against total orders. By plotting them individually, I could clearly see which sectors showed consistent demand, which ones fluctuated, and which ones had the strongest influence on overall order volume.</a:t>
            </a:r>
          </a:p>
          <a:p>
            <a:endParaRPr lang="en-GB" sz="2000" b="1" dirty="0">
              <a:latin typeface="Arial" panose="020B0604020202020204" pitchFamily="34" charset="0"/>
              <a:cs typeface="Arial" panose="020B0604020202020204" pitchFamily="34" charset="0"/>
            </a:endParaRPr>
          </a:p>
          <a:p>
            <a:r>
              <a:rPr lang="en-GB" sz="2000" b="1" u="sng" dirty="0">
                <a:latin typeface="Arial" panose="020B0604020202020204" pitchFamily="34" charset="0"/>
                <a:cs typeface="Arial" panose="020B0604020202020204" pitchFamily="34" charset="0"/>
              </a:rPr>
              <a:t>Insights</a:t>
            </a:r>
          </a:p>
          <a:p>
            <a:pPr>
              <a:buFont typeface="Arial" panose="020B0604020202020204" pitchFamily="34" charset="0"/>
              <a:buChar char="•"/>
            </a:pPr>
            <a:r>
              <a:rPr lang="en-GB" sz="2000" dirty="0"/>
              <a:t>Banking orders (1, 2, 3) show </a:t>
            </a:r>
            <a:r>
              <a:rPr lang="en-GB" sz="2000" b="1" dirty="0"/>
              <a:t>strong upward patterns</a:t>
            </a:r>
            <a:r>
              <a:rPr lang="en-GB" sz="2000" dirty="0"/>
              <a:t> and closely follow the movement of total orders.</a:t>
            </a:r>
          </a:p>
          <a:p>
            <a:pPr>
              <a:buFont typeface="Arial" panose="020B0604020202020204" pitchFamily="34" charset="0"/>
              <a:buChar char="•"/>
            </a:pPr>
            <a:r>
              <a:rPr lang="en-GB" sz="2000" dirty="0"/>
              <a:t>Fiscal and traffic-controller orders show </a:t>
            </a:r>
            <a:r>
              <a:rPr lang="en-GB" sz="2000" b="1" dirty="0"/>
              <a:t>smaller but steady contributions</a:t>
            </a:r>
            <a:r>
              <a:rPr lang="en-GB" sz="2000" dirty="0"/>
              <a:t> with lower variability.</a:t>
            </a:r>
          </a:p>
          <a:p>
            <a:pPr>
              <a:buFont typeface="Arial" panose="020B0604020202020204" pitchFamily="34" charset="0"/>
              <a:buChar char="•"/>
            </a:pPr>
            <a:r>
              <a:rPr lang="en-GB" sz="2000" dirty="0"/>
              <a:t>Sector-wise plots confirm that </a:t>
            </a:r>
            <a:r>
              <a:rPr lang="en-GB" sz="2000" b="1" dirty="0"/>
              <a:t>banking is the most dominant driver</a:t>
            </a:r>
            <a:r>
              <a:rPr lang="en-GB" sz="2000" dirty="0"/>
              <a:t> of total order demand.</a:t>
            </a:r>
          </a:p>
          <a:p>
            <a:pPr>
              <a:buFont typeface="Arial" panose="020B0604020202020204" pitchFamily="34" charset="0"/>
              <a:buChar char="•"/>
            </a:pPr>
            <a:r>
              <a:rPr lang="en-GB" sz="2000" dirty="0"/>
              <a:t>Relationships are positive but vary in strength, helping identify which sectors matter most for forecasting.</a:t>
            </a: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4" name="Group 3">
            <a:extLst>
              <a:ext uri="{FF2B5EF4-FFF2-40B4-BE49-F238E27FC236}">
                <a16:creationId xmlns:a16="http://schemas.microsoft.com/office/drawing/2014/main" id="{CFFCF84D-A107-45A8-B283-DE6E3EA9359B}"/>
              </a:ext>
            </a:extLst>
          </p:cNvPr>
          <p:cNvGrpSpPr/>
          <p:nvPr/>
        </p:nvGrpSpPr>
        <p:grpSpPr>
          <a:xfrm>
            <a:off x="8932845" y="1512230"/>
            <a:ext cx="2501090" cy="5050510"/>
            <a:chOff x="8932845" y="1512230"/>
            <a:chExt cx="2501090" cy="5050510"/>
          </a:xfrm>
        </p:grpSpPr>
        <p:pic>
          <p:nvPicPr>
            <p:cNvPr id="11" name="Picture 2">
              <a:extLst>
                <a:ext uri="{FF2B5EF4-FFF2-40B4-BE49-F238E27FC236}">
                  <a16:creationId xmlns:a16="http://schemas.microsoft.com/office/drawing/2014/main" id="{F71C552C-FB4C-423E-BE08-43314E9221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142" r="49813"/>
            <a:stretch/>
          </p:blipFill>
          <p:spPr bwMode="auto">
            <a:xfrm>
              <a:off x="8932845" y="4910599"/>
              <a:ext cx="2501090" cy="1652141"/>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a:extLst>
                <a:ext uri="{FF2B5EF4-FFF2-40B4-BE49-F238E27FC236}">
                  <a16:creationId xmlns:a16="http://schemas.microsoft.com/office/drawing/2014/main" id="{E7C5A636-8F3E-478E-832C-2A0CF74E7F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220" b="49704"/>
            <a:stretch/>
          </p:blipFill>
          <p:spPr bwMode="auto">
            <a:xfrm>
              <a:off x="8953135" y="1512230"/>
              <a:ext cx="2480800" cy="166662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5C22F7B0-04DD-45D4-A41B-B285925A16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813" b="50648"/>
            <a:stretch/>
          </p:blipFill>
          <p:spPr bwMode="auto">
            <a:xfrm>
              <a:off x="8932845" y="3227043"/>
              <a:ext cx="2501090" cy="163536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67924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7" name="Picture 9">
            <a:extLst>
              <a:ext uri="{FF2B5EF4-FFF2-40B4-BE49-F238E27FC236}">
                <a16:creationId xmlns:a16="http://schemas.microsoft.com/office/drawing/2014/main" id="{154CA4E4-B756-474D-B477-1BD15EEA07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90" r="143" b="307"/>
          <a:stretch/>
        </p:blipFill>
        <p:spPr bwMode="auto">
          <a:xfrm>
            <a:off x="8205549" y="1923693"/>
            <a:ext cx="3986451" cy="3223493"/>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EDA (Order Type Relation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7" y="1503784"/>
            <a:ext cx="7734564" cy="5632311"/>
          </a:xfrm>
          <a:prstGeom prst="rect">
            <a:avLst/>
          </a:prstGeom>
          <a:noFill/>
        </p:spPr>
        <p:txBody>
          <a:bodyPr wrap="square">
            <a:spAutoFit/>
          </a:bodyPr>
          <a:lstStyle/>
          <a:p>
            <a:r>
              <a:rPr lang="en-GB" sz="2000" b="1" u="sng" dirty="0">
                <a:latin typeface="Arial" panose="020B0604020202020204" pitchFamily="34" charset="0"/>
                <a:cs typeface="Arial" panose="020B0604020202020204" pitchFamily="34" charset="0"/>
              </a:rPr>
              <a:t>Approach</a:t>
            </a:r>
          </a:p>
          <a:p>
            <a:r>
              <a:rPr lang="en-GB" sz="2000" dirty="0">
                <a:latin typeface="Arial" panose="020B0604020202020204" pitchFamily="34" charset="0"/>
                <a:cs typeface="Arial" panose="020B0604020202020204" pitchFamily="34" charset="0"/>
              </a:rPr>
              <a:t>To understand which order types contribute most to total demand, I compared Type A, B, and C orders, along with urgent and non-urgent orders, against the overall total orders. I used scatter plots to visually inspect how strongly each category aligns with demand. This helped reveal which order types act as key drivers and whether urgent orders behave differently from non-urgent ones.</a:t>
            </a:r>
            <a:endParaRPr lang="en-GB" sz="2000" b="1" dirty="0">
              <a:latin typeface="Arial" panose="020B0604020202020204" pitchFamily="34" charset="0"/>
              <a:cs typeface="Arial" panose="020B0604020202020204" pitchFamily="34" charset="0"/>
            </a:endParaRPr>
          </a:p>
          <a:p>
            <a:r>
              <a:rPr lang="en-GB" sz="2000" b="1" u="sng" dirty="0">
                <a:latin typeface="Arial" panose="020B0604020202020204" pitchFamily="34" charset="0"/>
                <a:cs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Type C</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shows a strong positive relationship with total orders, indicating it contributes heavily to overall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Type A &amp; Type B</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show moderate relationships, meaning they add steady demand but with less impact.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Non-Urgent orders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represent the majority of demand and closely track overall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Urgent orders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are more volatile and contribute to sharp spikes in demand.</a:t>
            </a:r>
          </a:p>
          <a:p>
            <a:endParaRPr lang="en-GB" sz="2000" b="1" u="sng" dirty="0">
              <a:latin typeface="Arial" panose="020B0604020202020204" pitchFamily="34" charset="0"/>
              <a:cs typeface="Arial" panose="020B0604020202020204" pitchFamily="34" charset="0"/>
            </a:endParaRPr>
          </a:p>
          <a:p>
            <a:endParaRPr lang="en-GB" sz="2000" b="1" u="sng"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9702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1" name="Picture 5">
            <a:extLst>
              <a:ext uri="{FF2B5EF4-FFF2-40B4-BE49-F238E27FC236}">
                <a16:creationId xmlns:a16="http://schemas.microsoft.com/office/drawing/2014/main" id="{9637349E-AA3A-4839-AB7F-747746886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8629" y="4191023"/>
            <a:ext cx="3200866" cy="232952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EDA (Week &amp; Day Patterns)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6" y="1503784"/>
            <a:ext cx="7740343" cy="5632311"/>
          </a:xfrm>
          <a:prstGeom prst="rect">
            <a:avLst/>
          </a:prstGeom>
          <a:noFill/>
        </p:spPr>
        <p:txBody>
          <a:bodyPr wrap="square">
            <a:spAutoFit/>
          </a:bodyPr>
          <a:lstStyle/>
          <a:p>
            <a:r>
              <a:rPr lang="en-GB" sz="2000" b="1" u="sng" dirty="0">
                <a:latin typeface="Arial" panose="020B0604020202020204" pitchFamily="34" charset="0"/>
                <a:cs typeface="Arial" panose="020B0604020202020204" pitchFamily="34" charset="0"/>
              </a:rPr>
              <a:t>Approach</a:t>
            </a:r>
          </a:p>
          <a:p>
            <a:r>
              <a:rPr lang="en-GB" sz="2000" dirty="0">
                <a:latin typeface="Arial" panose="020B0604020202020204" pitchFamily="34" charset="0"/>
                <a:cs typeface="Arial" panose="020B0604020202020204" pitchFamily="34" charset="0"/>
              </a:rPr>
              <a:t>To understand how human routines influence order volumes, I reviewed how demand changes across different </a:t>
            </a:r>
            <a:r>
              <a:rPr lang="en-GB" sz="2000" b="1" dirty="0">
                <a:latin typeface="Arial" panose="020B0604020202020204" pitchFamily="34" charset="0"/>
                <a:cs typeface="Arial" panose="020B0604020202020204" pitchFamily="34" charset="0"/>
              </a:rPr>
              <a:t>weeks of the month</a:t>
            </a:r>
            <a:r>
              <a:rPr lang="en-GB" sz="2000" dirty="0">
                <a:latin typeface="Arial" panose="020B0604020202020204" pitchFamily="34" charset="0"/>
                <a:cs typeface="Arial" panose="020B0604020202020204" pitchFamily="34" charset="0"/>
              </a:rPr>
              <a:t> and </a:t>
            </a:r>
            <a:r>
              <a:rPr lang="en-GB" sz="2000" b="1" dirty="0">
                <a:latin typeface="Arial" panose="020B0604020202020204" pitchFamily="34" charset="0"/>
                <a:cs typeface="Arial" panose="020B0604020202020204" pitchFamily="34" charset="0"/>
              </a:rPr>
              <a:t>days of the week</a:t>
            </a:r>
            <a:r>
              <a:rPr lang="en-GB" sz="2000" dirty="0">
                <a:latin typeface="Arial" panose="020B0604020202020204" pitchFamily="34" charset="0"/>
                <a:cs typeface="Arial" panose="020B0604020202020204" pitchFamily="34" charset="0"/>
              </a:rPr>
              <a:t>. By visualizing these patterns, I focused on identifying weekly cycles, weekday peaks, and slow periods that naturally repeat and contribute to forecasting accuracy.</a:t>
            </a:r>
          </a:p>
          <a:p>
            <a:endParaRPr lang="en-GB" sz="2000" b="1" dirty="0">
              <a:latin typeface="Arial" panose="020B0604020202020204" pitchFamily="34" charset="0"/>
              <a:cs typeface="Arial" panose="020B0604020202020204" pitchFamily="34" charset="0"/>
            </a:endParaRPr>
          </a:p>
          <a:p>
            <a:r>
              <a:rPr lang="en-GB" sz="2000" b="1" u="sng" dirty="0">
                <a:latin typeface="Arial" panose="020B0604020202020204" pitchFamily="34" charset="0"/>
                <a:cs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Mid-month weeks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show slightly higher order activity compared to the beginning or end of the month.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Weekdays (Tue–Thu)</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generally see more stable order volumes, while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Mondays and Fridays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show more variability.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These patterns indicate a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cyclical, behavior-driven demand rhythm</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that the model must capture.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Weekly and daily variations help explain short-term fluctuations in total orders.</a:t>
            </a:r>
          </a:p>
          <a:p>
            <a:endParaRPr lang="en-GB" sz="2000" b="1" u="sng" dirty="0">
              <a:latin typeface="Arial" panose="020B0604020202020204" pitchFamily="34" charset="0"/>
              <a:cs typeface="Arial" panose="020B0604020202020204" pitchFamily="34" charset="0"/>
            </a:endParaRPr>
          </a:p>
          <a:p>
            <a:endParaRPr lang="en-GB" sz="2000" b="1" u="sng"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339" name="Picture 3">
            <a:extLst>
              <a:ext uri="{FF2B5EF4-FFF2-40B4-BE49-F238E27FC236}">
                <a16:creationId xmlns:a16="http://schemas.microsoft.com/office/drawing/2014/main" id="{4B888F79-2839-4889-B557-5F0025413A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8629" y="1778348"/>
            <a:ext cx="3200865" cy="2329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808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a:extLst>
              <a:ext uri="{FF2B5EF4-FFF2-40B4-BE49-F238E27FC236}">
                <a16:creationId xmlns:a16="http://schemas.microsoft.com/office/drawing/2014/main" id="{605C4A44-1E1B-4A85-B1A3-7F6B9EAF6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5868" y="3749259"/>
            <a:ext cx="3523376" cy="283167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Outlier Detection &amp; Treatment</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6" y="1503784"/>
            <a:ext cx="11408943" cy="2246769"/>
          </a:xfrm>
          <a:prstGeom prst="rect">
            <a:avLst/>
          </a:prstGeom>
          <a:noFill/>
        </p:spPr>
        <p:txBody>
          <a:bodyPr wrap="square">
            <a:spAutoFit/>
          </a:bodyPr>
          <a:lstStyle/>
          <a:p>
            <a:pPr algn="just"/>
            <a:r>
              <a:rPr lang="en-GB" sz="2000" b="1" u="sng" dirty="0">
                <a:latin typeface="Arial" panose="020B0604020202020204" pitchFamily="34" charset="0"/>
                <a:cs typeface="Arial" panose="020B0604020202020204" pitchFamily="34" charset="0"/>
              </a:rPr>
              <a:t>Approach</a:t>
            </a:r>
          </a:p>
          <a:p>
            <a:pPr algn="just"/>
            <a:r>
              <a:rPr lang="en-GB" sz="2000" dirty="0"/>
              <a:t>To make our forecasting model more reliable, I examined the dataset to check whether unusual or extreme values were hiding inside the order counts. I used both statistical methods like the IQR rule and a multivariate method (LOF) to detect patterns that didn’t fit the natural </a:t>
            </a:r>
            <a:r>
              <a:rPr lang="en-GB" sz="2000" dirty="0" err="1"/>
              <a:t>behavior</a:t>
            </a:r>
            <a:r>
              <a:rPr lang="en-GB" sz="2000" dirty="0"/>
              <a:t> of the data. After identifying these outliers, I treated them using careful capping to make sure they didn’t distort the model while still preserving business meaning.</a:t>
            </a:r>
            <a:r>
              <a:rPr lang="en-GB" sz="2000" dirty="0">
                <a:latin typeface="Arial" panose="020B0604020202020204" pitchFamily="34" charset="0"/>
                <a:cs typeface="Arial" panose="020B0604020202020204" pitchFamily="34" charset="0"/>
              </a:rPr>
              <a:t>.</a:t>
            </a:r>
          </a:p>
          <a:p>
            <a:pPr algn="just"/>
            <a:endParaRPr lang="en-GB" sz="2000" b="1"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5" y="3614534"/>
            <a:ext cx="6451049" cy="2585323"/>
          </a:xfrm>
          <a:prstGeom prst="rect">
            <a:avLst/>
          </a:prstGeom>
          <a:noFill/>
        </p:spPr>
        <p:txBody>
          <a:bodyPr wrap="square">
            <a:spAutoFit/>
          </a:bodyPr>
          <a:lstStyle/>
          <a:p>
            <a:r>
              <a:rPr lang="en-GB" sz="1800" b="1" u="sng" dirty="0">
                <a:latin typeface="Arial" panose="020B0604020202020204" pitchFamily="34" charset="0"/>
                <a:cs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Several numerical features showed right-skewed values, indicating occasional spikes in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IQR analysis identified extreme values in urgent orders, banking orders, and total orders.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LOF detected multivariate anomalies, confirming some combined order patterns were unusual.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Outlier capping helped stabilize the distribution without deleting important business signals.</a:t>
            </a:r>
          </a:p>
        </p:txBody>
      </p:sp>
    </p:spTree>
    <p:extLst>
      <p:ext uri="{BB962C8B-B14F-4D97-AF65-F5344CB8AC3E}">
        <p14:creationId xmlns:p14="http://schemas.microsoft.com/office/powerpoint/2010/main" val="2447056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1843999" cy="830997"/>
          </a:xfrm>
          <a:prstGeom prst="rect">
            <a:avLst/>
          </a:prstGeom>
          <a:noFill/>
        </p:spPr>
        <p:txBody>
          <a:bodyPr wrap="square">
            <a:spAutoFit/>
          </a:bodyPr>
          <a:lstStyle/>
          <a:p>
            <a:pPr lvl="0"/>
            <a:r>
              <a:rPr lang="en-GB" sz="4800" b="1" u="sng" dirty="0">
                <a:latin typeface="Leelawadee" panose="020B0502040204020203" pitchFamily="34" charset="-34"/>
                <a:ea typeface="Yu Gothic UI Semibold" panose="020B0700000000000000" pitchFamily="34" charset="-128"/>
                <a:cs typeface="Leelawadee" panose="020B0502040204020203" pitchFamily="34" charset="-34"/>
              </a:rPr>
              <a:t>Feature Engineering for Time Series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6" y="1503784"/>
            <a:ext cx="10846881" cy="1938992"/>
          </a:xfrm>
          <a:prstGeom prst="rect">
            <a:avLst/>
          </a:prstGeom>
          <a:noFill/>
        </p:spPr>
        <p:txBody>
          <a:bodyPr wrap="square">
            <a:spAutoFit/>
          </a:bodyPr>
          <a:lstStyle/>
          <a:p>
            <a:pPr algn="just"/>
            <a:r>
              <a:rPr lang="en-GB" sz="2000" b="1" u="sng" dirty="0">
                <a:latin typeface="Arial" panose="020B0604020202020204" pitchFamily="34" charset="0"/>
                <a:cs typeface="Arial" panose="020B0604020202020204" pitchFamily="34" charset="0"/>
              </a:rPr>
              <a:t>Approach</a:t>
            </a:r>
          </a:p>
          <a:p>
            <a:pPr algn="just"/>
            <a:r>
              <a:rPr lang="en-GB" sz="2000" dirty="0"/>
              <a:t>To make our forecasting model smarter, I added a few helpful features that capture how orders behave over time. I used lag values so the model can look back at what happened a few days before, and rolling averages to smooth out short-term ups and downs. I also created some ratio features to understand how urgent and non-urgent orders influence the total. These small additions help the model “see the pattern” more clearly and make better predictions.	</a:t>
            </a:r>
            <a:endParaRPr lang="en-GB" sz="2000" b="1"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4" y="3614534"/>
            <a:ext cx="10435821" cy="2118529"/>
          </a:xfrm>
          <a:prstGeom prst="rect">
            <a:avLst/>
          </a:prstGeom>
          <a:noFill/>
        </p:spPr>
        <p:txBody>
          <a:bodyPr wrap="square">
            <a:spAutoFit/>
          </a:bodyPr>
          <a:lstStyle/>
          <a:p>
            <a:pPr>
              <a:lnSpc>
                <a:spcPct val="150000"/>
              </a:lnSpc>
            </a:pPr>
            <a:r>
              <a:rPr lang="en-GB" sz="1800" b="1" u="sng" dirty="0">
                <a:latin typeface="Arial" panose="020B0604020202020204" pitchFamily="34" charset="0"/>
                <a:cs typeface="Arial" panose="020B0604020202020204" pitchFamily="34" charset="0"/>
              </a:rPr>
              <a:t>Insights</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Lag features (lag_1, lag_2, lag_3) capture short-term momentum in total orders.</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Rolling averages highlight weekly smoothing patterns and reduce noise.</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Urgent and non-urgent ratio features help quantify how order mix shifts over time.</a:t>
            </a:r>
          </a:p>
          <a:p>
            <a:pPr marL="285750" indent="-285750">
              <a:lnSpc>
                <a:spcPct val="150000"/>
              </a:lnSpc>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Combined “</a:t>
            </a:r>
            <a:r>
              <a:rPr kumimoji="0" lang="en-US" altLang="en-US" sz="1800" b="0" i="0" u="none" strike="noStrike" cap="none" normalizeH="0" baseline="0" dirty="0" err="1">
                <a:ln>
                  <a:noFill/>
                </a:ln>
                <a:solidFill>
                  <a:schemeClr val="tx1"/>
                </a:solidFill>
                <a:effectLst/>
                <a:latin typeface="Arial" panose="020B0604020202020204" pitchFamily="34" charset="0"/>
              </a:rPr>
              <a:t>banking_total</a:t>
            </a:r>
            <a:r>
              <a:rPr kumimoji="0" lang="en-US" altLang="en-US" sz="1800" b="0" i="0" u="none" strike="noStrike" cap="none" normalizeH="0" baseline="0" dirty="0">
                <a:ln>
                  <a:noFill/>
                </a:ln>
                <a:solidFill>
                  <a:schemeClr val="tx1"/>
                </a:solidFill>
                <a:effectLst/>
                <a:latin typeface="Arial" panose="020B0604020202020204" pitchFamily="34" charset="0"/>
              </a:rPr>
              <a:t>” feature strengthens forecasting signals by grouping related sectors.</a:t>
            </a:r>
          </a:p>
        </p:txBody>
      </p:sp>
      <p:sp>
        <p:nvSpPr>
          <p:cNvPr id="4" name="Rectangle 1">
            <a:extLst>
              <a:ext uri="{FF2B5EF4-FFF2-40B4-BE49-F238E27FC236}">
                <a16:creationId xmlns:a16="http://schemas.microsoft.com/office/drawing/2014/main" id="{5D23556F-7BB5-43ED-AB85-69475DBC351E}"/>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9C879163-F728-4CBF-9FAE-1C32CF0CAE7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5946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Clustering Overview</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6" y="1503784"/>
            <a:ext cx="11140495" cy="1938992"/>
          </a:xfrm>
          <a:prstGeom prst="rect">
            <a:avLst/>
          </a:prstGeom>
          <a:noFill/>
        </p:spPr>
        <p:txBody>
          <a:bodyPr wrap="square">
            <a:spAutoFit/>
          </a:bodyPr>
          <a:lstStyle/>
          <a:p>
            <a:pPr algn="just"/>
            <a:r>
              <a:rPr lang="en-GB" sz="2000" b="1" u="sng" dirty="0">
                <a:latin typeface="Arial" panose="020B0604020202020204" pitchFamily="34" charset="0"/>
                <a:cs typeface="Arial" panose="020B0604020202020204" pitchFamily="34" charset="0"/>
              </a:rPr>
              <a:t>Approach</a:t>
            </a:r>
          </a:p>
          <a:p>
            <a:pPr algn="just"/>
            <a:r>
              <a:rPr lang="en-GB" sz="2000" dirty="0">
                <a:latin typeface="Arial" panose="020B0604020202020204" pitchFamily="34" charset="0"/>
                <a:cs typeface="Arial" panose="020B0604020202020204" pitchFamily="34" charset="0"/>
              </a:rPr>
              <a:t>To understand how different types of orders behave, I grouped similar demand patterns together using three clustering techniques. I first scaled the selected features so that no single variable dominated the clustering outcome. Then I applied K-Means, DBSCAN, and Agglomerative Clustering to see how the dataset naturally forms segments. The idea was simple: if we can identify groups with similar ordering </a:t>
            </a:r>
            <a:r>
              <a:rPr lang="en-GB" sz="2000" dirty="0" err="1">
                <a:latin typeface="Arial" panose="020B0604020202020204" pitchFamily="34" charset="0"/>
                <a:cs typeface="Arial" panose="020B0604020202020204" pitchFamily="34" charset="0"/>
              </a:rPr>
              <a:t>behavior</a:t>
            </a:r>
            <a:r>
              <a:rPr lang="en-GB" sz="2000" dirty="0">
                <a:latin typeface="Arial" panose="020B0604020202020204" pitchFamily="34" charset="0"/>
                <a:cs typeface="Arial" panose="020B0604020202020204" pitchFamily="34" charset="0"/>
              </a:rPr>
              <a:t>, we can understand demand variations more clearly.</a:t>
            </a:r>
            <a:endParaRPr lang="en-GB" sz="2000" b="1"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6" y="3651495"/>
            <a:ext cx="11006270" cy="2416046"/>
          </a:xfrm>
          <a:prstGeom prst="rect">
            <a:avLst/>
          </a:prstGeom>
          <a:noFill/>
        </p:spPr>
        <p:txBody>
          <a:bodyPr wrap="square">
            <a:spAutoFit/>
          </a:bodyPr>
          <a:lstStyle/>
          <a:p>
            <a:pPr algn="just"/>
            <a:r>
              <a:rPr lang="en-GB" sz="1800" b="1" u="sng" dirty="0">
                <a:latin typeface="Arial" panose="020B0604020202020204" pitchFamily="34" charset="0"/>
                <a:cs typeface="Arial" panose="020B0604020202020204" pitchFamily="34" charset="0"/>
              </a:rPr>
              <a:t>Insights</a:t>
            </a:r>
          </a:p>
          <a:p>
            <a:pPr algn="just"/>
            <a:endParaRPr lang="en-GB" sz="700" b="1" u="sng" dirty="0">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K-Means helped identify clear customer/order demand segments</a:t>
            </a:r>
            <a:r>
              <a:rPr kumimoji="0" lang="en-US" altLang="en-US" sz="1800" b="0" i="0" u="none" strike="noStrike" cap="none" normalizeH="0" baseline="0" dirty="0">
                <a:ln>
                  <a:noFill/>
                </a:ln>
                <a:solidFill>
                  <a:schemeClr val="tx1"/>
                </a:solidFill>
                <a:effectLst/>
                <a:latin typeface="Arial" panose="020B0604020202020204" pitchFamily="34" charset="0"/>
              </a:rPr>
              <a:t> based on urgent, non-urgent, and banking orders.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DBSCAN detected noise/outlier-like behavior</a:t>
            </a:r>
            <a:r>
              <a:rPr kumimoji="0" lang="en-US" altLang="en-US" sz="1800" b="0" i="0" u="none" strike="noStrike" cap="none" normalizeH="0" baseline="0" dirty="0">
                <a:ln>
                  <a:noFill/>
                </a:ln>
                <a:solidFill>
                  <a:schemeClr val="tx1"/>
                </a:solidFill>
                <a:effectLst/>
                <a:latin typeface="Arial" panose="020B0604020202020204" pitchFamily="34" charset="0"/>
              </a:rPr>
              <a:t>, which matches the few extreme spikes in orders.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Agglomerative clustering revealed a hierarchical structure</a:t>
            </a:r>
            <a:r>
              <a:rPr kumimoji="0" lang="en-US" altLang="en-US" sz="1800" b="0" i="0" u="none" strike="noStrike" cap="none" normalizeH="0" baseline="0" dirty="0">
                <a:ln>
                  <a:noFill/>
                </a:ln>
                <a:solidFill>
                  <a:schemeClr val="tx1"/>
                </a:solidFill>
                <a:effectLst/>
                <a:latin typeface="Arial" panose="020B0604020202020204" pitchFamily="34" charset="0"/>
              </a:rPr>
              <a:t>, showing how some segments merge into broader demand groups.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Clustering overall helps understand hidden demand patterns</a:t>
            </a:r>
            <a:r>
              <a:rPr kumimoji="0" lang="en-US" altLang="en-US" sz="1800" b="0" i="0" u="none" strike="noStrike" cap="none" normalizeH="0" baseline="0" dirty="0">
                <a:ln>
                  <a:noFill/>
                </a:ln>
                <a:solidFill>
                  <a:schemeClr val="tx1"/>
                </a:solidFill>
                <a:effectLst/>
                <a:latin typeface="Arial" panose="020B0604020202020204" pitchFamily="34" charset="0"/>
              </a:rPr>
              <a:t>, which later supports segmentation-based forecasting and planning.</a:t>
            </a:r>
          </a:p>
        </p:txBody>
      </p:sp>
    </p:spTree>
    <p:extLst>
      <p:ext uri="{BB962C8B-B14F-4D97-AF65-F5344CB8AC3E}">
        <p14:creationId xmlns:p14="http://schemas.microsoft.com/office/powerpoint/2010/main" val="2049208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3">
            <a:extLst>
              <a:ext uri="{FF2B5EF4-FFF2-40B4-BE49-F238E27FC236}">
                <a16:creationId xmlns:a16="http://schemas.microsoft.com/office/drawing/2014/main" id="{EDDB47B3-7219-40E4-B7EF-FACD1AB41D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700" y="3567127"/>
            <a:ext cx="3959604" cy="2968124"/>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E2B8945-5C68-4FB9-B95D-65A6027E00A5}"/>
              </a:ext>
            </a:extLst>
          </p:cNvPr>
          <p:cNvSpPr txBox="1"/>
          <p:nvPr/>
        </p:nvSpPr>
        <p:spPr>
          <a:xfrm>
            <a:off x="806599" y="612400"/>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K-Means Clustering</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7" y="1565339"/>
            <a:ext cx="11006270" cy="1631216"/>
          </a:xfrm>
          <a:prstGeom prst="rect">
            <a:avLst/>
          </a:prstGeom>
          <a:noFill/>
        </p:spPr>
        <p:txBody>
          <a:bodyPr wrap="square">
            <a:spAutoFit/>
          </a:bodyPr>
          <a:lstStyle/>
          <a:p>
            <a:pPr algn="just"/>
            <a:r>
              <a:rPr lang="en-GB" sz="2000" b="1" u="sng" dirty="0">
                <a:latin typeface="Arial" panose="020B0604020202020204" pitchFamily="34" charset="0"/>
                <a:cs typeface="Arial" panose="020B0604020202020204" pitchFamily="34" charset="0"/>
              </a:rPr>
              <a:t>Approach</a:t>
            </a:r>
          </a:p>
          <a:p>
            <a:pPr algn="just"/>
            <a:r>
              <a:rPr lang="en-GB" sz="2000" dirty="0"/>
              <a:t>To understand different order </a:t>
            </a:r>
            <a:r>
              <a:rPr lang="en-GB" sz="2000" dirty="0" err="1"/>
              <a:t>behaviors</a:t>
            </a:r>
            <a:r>
              <a:rPr lang="en-GB" sz="2000" dirty="0"/>
              <a:t>, I applied K-Means after scaling all selected features. I experimented with multiple cluster counts and used the Silhouette Score to find the most meaningful segmentation. Once the best K was identified, I mapped each data point into its cluster to observe clear demand patterns.</a:t>
            </a:r>
            <a:endParaRPr lang="en-GB" sz="2000" b="1"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7" y="3506812"/>
            <a:ext cx="6509772" cy="2693045"/>
          </a:xfrm>
          <a:prstGeom prst="rect">
            <a:avLst/>
          </a:prstGeom>
          <a:noFill/>
        </p:spPr>
        <p:txBody>
          <a:bodyPr wrap="square">
            <a:spAutoFit/>
          </a:bodyPr>
          <a:lstStyle/>
          <a:p>
            <a:pPr algn="just"/>
            <a:r>
              <a:rPr lang="en-GB" sz="1800" b="1" u="sng" dirty="0">
                <a:latin typeface="Arial" panose="020B0604020202020204" pitchFamily="34" charset="0"/>
                <a:cs typeface="Arial" panose="020B0604020202020204" pitchFamily="34" charset="0"/>
              </a:rPr>
              <a:t>Insights</a:t>
            </a:r>
          </a:p>
          <a:p>
            <a:pPr algn="just"/>
            <a:endParaRPr lang="en-GB" sz="700" b="1" u="sng"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Best number of clusters (K)</a:t>
            </a:r>
            <a:r>
              <a:rPr kumimoji="0" lang="en-US" altLang="en-US" sz="1800" b="0" i="0" u="none" strike="noStrike" cap="none" normalizeH="0" baseline="0" dirty="0">
                <a:ln>
                  <a:noFill/>
                </a:ln>
                <a:solidFill>
                  <a:schemeClr val="tx1"/>
                </a:solidFill>
                <a:effectLst/>
                <a:latin typeface="Arial" panose="020B0604020202020204" pitchFamily="34" charset="0"/>
              </a:rPr>
              <a:t> was chosen using the Silhouette Score, ensuring the segments are well-separated.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One cluster represented </a:t>
            </a:r>
            <a:r>
              <a:rPr kumimoji="0" lang="en-US" altLang="en-US" sz="1800" b="1" i="0" u="none" strike="noStrike" cap="none" normalizeH="0" baseline="0" dirty="0">
                <a:ln>
                  <a:noFill/>
                </a:ln>
                <a:solidFill>
                  <a:schemeClr val="tx1"/>
                </a:solidFill>
                <a:effectLst/>
                <a:latin typeface="Arial" panose="020B0604020202020204" pitchFamily="34" charset="0"/>
              </a:rPr>
              <a:t>high non-urgent + high urgent orders</a:t>
            </a:r>
            <a:r>
              <a:rPr kumimoji="0" lang="en-US" altLang="en-US" sz="1800" b="0" i="0" u="none" strike="noStrike" cap="none" normalizeH="0" baseline="0" dirty="0">
                <a:ln>
                  <a:noFill/>
                </a:ln>
                <a:solidFill>
                  <a:schemeClr val="tx1"/>
                </a:solidFill>
                <a:effectLst/>
                <a:latin typeface="Arial" panose="020B0604020202020204" pitchFamily="34" charset="0"/>
              </a:rPr>
              <a:t>, indicating peak demand scenarios.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Another cluster included </a:t>
            </a:r>
            <a:r>
              <a:rPr kumimoji="0" lang="en-US" altLang="en-US" sz="1800" b="1" i="0" u="none" strike="noStrike" cap="none" normalizeH="0" baseline="0" dirty="0">
                <a:ln>
                  <a:noFill/>
                </a:ln>
                <a:solidFill>
                  <a:schemeClr val="tx1"/>
                </a:solidFill>
                <a:effectLst/>
                <a:latin typeface="Arial" panose="020B0604020202020204" pitchFamily="34" charset="0"/>
              </a:rPr>
              <a:t>moderate orders</a:t>
            </a:r>
            <a:r>
              <a:rPr kumimoji="0" lang="en-US" altLang="en-US" sz="1800" b="0" i="0" u="none" strike="noStrike" cap="none" normalizeH="0" baseline="0" dirty="0">
                <a:ln>
                  <a:noFill/>
                </a:ln>
                <a:solidFill>
                  <a:schemeClr val="tx1"/>
                </a:solidFill>
                <a:effectLst/>
                <a:latin typeface="Arial" panose="020B0604020202020204" pitchFamily="34" charset="0"/>
              </a:rPr>
              <a:t>, showing stable, regular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Clusters help reveal distinct behavior groups that can improve demand planning and forecasting accuracy.</a:t>
            </a:r>
          </a:p>
        </p:txBody>
      </p:sp>
    </p:spTree>
    <p:extLst>
      <p:ext uri="{BB962C8B-B14F-4D97-AF65-F5344CB8AC3E}">
        <p14:creationId xmlns:p14="http://schemas.microsoft.com/office/powerpoint/2010/main" val="2432830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638819" y="622265"/>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DBSCAN &amp; Agglomerative Clustering</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7" y="1565339"/>
            <a:ext cx="10972714" cy="1631216"/>
          </a:xfrm>
          <a:prstGeom prst="rect">
            <a:avLst/>
          </a:prstGeom>
          <a:noFill/>
        </p:spPr>
        <p:txBody>
          <a:bodyPr wrap="square">
            <a:spAutoFit/>
          </a:bodyPr>
          <a:lstStyle/>
          <a:p>
            <a:pPr algn="just"/>
            <a:r>
              <a:rPr lang="en-GB" sz="2000" b="1" u="sng" dirty="0">
                <a:latin typeface="Arial" panose="020B0604020202020204" pitchFamily="34" charset="0"/>
                <a:cs typeface="Arial" panose="020B0604020202020204" pitchFamily="34" charset="0"/>
              </a:rPr>
              <a:t>Approach</a:t>
            </a:r>
          </a:p>
          <a:p>
            <a:pPr algn="just"/>
            <a:r>
              <a:rPr lang="en-GB" sz="2000" dirty="0"/>
              <a:t>After analyzing K-Means, I explored two more clustering methods to capture patterns that K-Means might miss. DBSCAN helped identify natural density-based clusters and detect noise or outliers, while Agglomerative Clustering gave a hierarchical view of how data points group together. Both methods added a deeper understanding of the structure hidden in order </a:t>
            </a:r>
            <a:r>
              <a:rPr lang="en-GB" sz="2000" dirty="0" err="1"/>
              <a:t>behaviors</a:t>
            </a:r>
            <a:r>
              <a:rPr lang="en-GB" sz="2000" dirty="0"/>
              <a:t>.</a:t>
            </a:r>
            <a:endParaRPr lang="en-GB" sz="2000" b="1" u="sng"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7" y="3453072"/>
            <a:ext cx="7591951" cy="2970044"/>
          </a:xfrm>
          <a:prstGeom prst="rect">
            <a:avLst/>
          </a:prstGeom>
          <a:noFill/>
        </p:spPr>
        <p:txBody>
          <a:bodyPr wrap="square">
            <a:spAutoFit/>
          </a:bodyPr>
          <a:lstStyle/>
          <a:p>
            <a:pPr algn="just"/>
            <a:r>
              <a:rPr lang="en-GB" sz="1800" b="1" u="sng" dirty="0">
                <a:latin typeface="Arial" panose="020B0604020202020204" pitchFamily="34" charset="0"/>
                <a:cs typeface="Arial" panose="020B0604020202020204" pitchFamily="34" charset="0"/>
              </a:rPr>
              <a:t>Insights</a:t>
            </a:r>
          </a:p>
          <a:p>
            <a:pPr algn="just"/>
            <a:endParaRPr lang="en-GB" sz="700" b="1" u="sng"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DBSCAN identified noise/outlier points</a:t>
            </a:r>
            <a:r>
              <a:rPr kumimoji="0" lang="en-US" altLang="en-US" sz="1800" b="0" i="0" u="none" strike="noStrike" cap="none" normalizeH="0" baseline="0" dirty="0">
                <a:ln>
                  <a:noFill/>
                </a:ln>
                <a:solidFill>
                  <a:schemeClr val="tx1"/>
                </a:solidFill>
                <a:effectLst/>
                <a:latin typeface="Arial" panose="020B0604020202020204" pitchFamily="34" charset="0"/>
              </a:rPr>
              <a:t>, which aligns well with the irregular spikes in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also revealed </a:t>
            </a:r>
            <a:r>
              <a:rPr kumimoji="0" lang="en-US" altLang="en-US" sz="1800" b="1" i="0" u="none" strike="noStrike" cap="none" normalizeH="0" baseline="0" dirty="0">
                <a:ln>
                  <a:noFill/>
                </a:ln>
                <a:solidFill>
                  <a:schemeClr val="tx1"/>
                </a:solidFill>
                <a:effectLst/>
                <a:latin typeface="Arial" panose="020B0604020202020204" pitchFamily="34" charset="0"/>
              </a:rPr>
              <a:t>dense groups of consistent order patterns</a:t>
            </a:r>
            <a:r>
              <a:rPr kumimoji="0" lang="en-US" altLang="en-US" sz="1800" b="0" i="0" u="none" strike="noStrike" cap="none" normalizeH="0" baseline="0" dirty="0">
                <a:ln>
                  <a:noFill/>
                </a:ln>
                <a:solidFill>
                  <a:schemeClr val="tx1"/>
                </a:solidFill>
                <a:effectLst/>
                <a:latin typeface="Arial" panose="020B0604020202020204" pitchFamily="34" charset="0"/>
              </a:rPr>
              <a:t>, especially for stable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Agglomerative Clustering showed a clear hierarchical relationship</a:t>
            </a:r>
            <a:r>
              <a:rPr kumimoji="0" lang="en-US" altLang="en-US" sz="1800" b="0" i="0" u="none" strike="noStrike" cap="none" normalizeH="0" baseline="0" dirty="0">
                <a:ln>
                  <a:noFill/>
                </a:ln>
                <a:solidFill>
                  <a:schemeClr val="tx1"/>
                </a:solidFill>
                <a:effectLst/>
                <a:latin typeface="Arial" panose="020B0604020202020204" pitchFamily="34" charset="0"/>
              </a:rPr>
              <a:t>, grouping similar order behaviors from low to high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Comparing all three models, these alternative algorithms confirmed the presence of </a:t>
            </a:r>
            <a:r>
              <a:rPr kumimoji="0" lang="en-US" altLang="en-US" sz="1800" b="1" i="0" u="none" strike="noStrike" cap="none" normalizeH="0" baseline="0" dirty="0">
                <a:ln>
                  <a:noFill/>
                </a:ln>
                <a:solidFill>
                  <a:schemeClr val="tx1"/>
                </a:solidFill>
                <a:effectLst/>
                <a:latin typeface="Arial" panose="020B0604020202020204" pitchFamily="34" charset="0"/>
              </a:rPr>
              <a:t>distinct demand segments</a:t>
            </a:r>
            <a:r>
              <a:rPr kumimoji="0" lang="en-US" altLang="en-US" sz="1800" b="0" i="0" u="none" strike="noStrike" cap="none" normalizeH="0" baseline="0" dirty="0">
                <a:ln>
                  <a:noFill/>
                </a:ln>
                <a:solidFill>
                  <a:schemeClr val="tx1"/>
                </a:solidFill>
                <a:effectLst/>
                <a:latin typeface="Arial" panose="020B0604020202020204" pitchFamily="34" charset="0"/>
              </a:rPr>
              <a:t> and supported the reliability of the K-Means clusters.</a:t>
            </a:r>
          </a:p>
        </p:txBody>
      </p:sp>
      <p:pic>
        <p:nvPicPr>
          <p:cNvPr id="6" name="Picture 5">
            <a:extLst>
              <a:ext uri="{FF2B5EF4-FFF2-40B4-BE49-F238E27FC236}">
                <a16:creationId xmlns:a16="http://schemas.microsoft.com/office/drawing/2014/main" id="{5F3C272E-14CC-42F3-9536-196E348FDDED}"/>
              </a:ext>
            </a:extLst>
          </p:cNvPr>
          <p:cNvPicPr>
            <a:picLocks noChangeAspect="1"/>
          </p:cNvPicPr>
          <p:nvPr/>
        </p:nvPicPr>
        <p:blipFill>
          <a:blip r:embed="rId3"/>
          <a:stretch>
            <a:fillRect/>
          </a:stretch>
        </p:blipFill>
        <p:spPr>
          <a:xfrm>
            <a:off x="8628317" y="4039414"/>
            <a:ext cx="3395295" cy="1124040"/>
          </a:xfrm>
          <a:prstGeom prst="rect">
            <a:avLst/>
          </a:prstGeom>
          <a:ln w="28575">
            <a:solidFill>
              <a:schemeClr val="tx1"/>
            </a:solidFill>
          </a:ln>
        </p:spPr>
      </p:pic>
    </p:spTree>
    <p:extLst>
      <p:ext uri="{BB962C8B-B14F-4D97-AF65-F5344CB8AC3E}">
        <p14:creationId xmlns:p14="http://schemas.microsoft.com/office/powerpoint/2010/main" val="2412226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77F200D-5EAB-4B05-AD9E-ED6F5F2679C0}"/>
              </a:ext>
            </a:extLst>
          </p:cNvPr>
          <p:cNvPicPr>
            <a:picLocks noChangeAspect="1"/>
          </p:cNvPicPr>
          <p:nvPr/>
        </p:nvPicPr>
        <p:blipFill>
          <a:blip r:embed="rId2"/>
          <a:stretch>
            <a:fillRect/>
          </a:stretch>
        </p:blipFill>
        <p:spPr>
          <a:xfrm>
            <a:off x="8246190" y="3943659"/>
            <a:ext cx="3375273" cy="1811989"/>
          </a:xfrm>
          <a:prstGeom prst="rect">
            <a:avLst/>
          </a:prstGeom>
        </p:spPr>
      </p:pic>
      <p:sp>
        <p:nvSpPr>
          <p:cNvPr id="48" name="TextBox 47">
            <a:extLst>
              <a:ext uri="{FF2B5EF4-FFF2-40B4-BE49-F238E27FC236}">
                <a16:creationId xmlns:a16="http://schemas.microsoft.com/office/drawing/2014/main" id="{AE2B8945-5C68-4FB9-B95D-65A6027E00A5}"/>
              </a:ext>
            </a:extLst>
          </p:cNvPr>
          <p:cNvSpPr txBox="1"/>
          <p:nvPr/>
        </p:nvSpPr>
        <p:spPr>
          <a:xfrm>
            <a:off x="638819" y="622265"/>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ARIMA Model</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7" y="1489215"/>
            <a:ext cx="7591951" cy="2062103"/>
          </a:xfrm>
          <a:prstGeom prst="rect">
            <a:avLst/>
          </a:prstGeom>
          <a:noFill/>
        </p:spPr>
        <p:txBody>
          <a:bodyPr wrap="square">
            <a:spAutoFit/>
          </a:bodyPr>
          <a:lstStyle/>
          <a:p>
            <a:pPr algn="just"/>
            <a:r>
              <a:rPr lang="en-GB" sz="2000" b="1" u="sng" dirty="0">
                <a:cs typeface="Arial" panose="020B0604020202020204" pitchFamily="34" charset="0"/>
              </a:rPr>
              <a:t>Approach</a:t>
            </a:r>
          </a:p>
          <a:p>
            <a:pPr algn="just"/>
            <a:r>
              <a:rPr lang="en-GB" dirty="0"/>
              <a:t>Once the series was stabilized, I used Auto-ARIMA to automatically determine the best (p, d, q) parameters. This helped avoid manual trial-and-error and ensured that the model captured the underlying trend and short-term dependencies. After fitting the model on the transformed data, I generated an 8-step forecast and compared it with the actual values from the last part of the data.</a:t>
            </a:r>
            <a:endParaRPr lang="en-GB" b="1" u="sng" dirty="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7" y="3797540"/>
            <a:ext cx="7591951" cy="2693045"/>
          </a:xfrm>
          <a:prstGeom prst="rect">
            <a:avLst/>
          </a:prstGeom>
          <a:noFill/>
        </p:spPr>
        <p:txBody>
          <a:bodyPr wrap="square">
            <a:spAutoFit/>
          </a:bodyPr>
          <a:lstStyle/>
          <a:p>
            <a:pPr algn="just"/>
            <a:r>
              <a:rPr lang="en-GB" sz="1800" b="1" u="sng" dirty="0">
                <a:latin typeface="Arial" panose="020B0604020202020204" pitchFamily="34" charset="0"/>
                <a:cs typeface="Arial" panose="020B0604020202020204" pitchFamily="34" charset="0"/>
              </a:rPr>
              <a:t>Insights</a:t>
            </a:r>
          </a:p>
          <a:p>
            <a:pPr algn="just"/>
            <a:endParaRPr lang="en-GB" sz="700" b="1" u="sng" dirty="0">
              <a:latin typeface="Arial" panose="020B0604020202020204" pitchFamily="34" charset="0"/>
              <a:cs typeface="Arial" panose="020B0604020202020204" pitchFamily="34" charset="0"/>
            </a:endParaRPr>
          </a:p>
          <a:p>
            <a:pPr>
              <a:buFont typeface="Arial" panose="020B0604020202020204" pitchFamily="34" charset="0"/>
              <a:buChar char="•"/>
            </a:pPr>
            <a:r>
              <a:rPr lang="en-GB" dirty="0"/>
              <a:t>The raw time series shows </a:t>
            </a:r>
            <a:r>
              <a:rPr lang="en-GB" b="1" dirty="0"/>
              <a:t>fluctuations with occasional demand peaks</a:t>
            </a:r>
            <a:r>
              <a:rPr lang="en-GB" dirty="0"/>
              <a:t>, indicating non-stationarity.</a:t>
            </a:r>
          </a:p>
          <a:p>
            <a:pPr>
              <a:buFont typeface="Arial" panose="020B0604020202020204" pitchFamily="34" charset="0"/>
              <a:buChar char="•"/>
            </a:pPr>
            <a:r>
              <a:rPr lang="en-GB" b="1" dirty="0"/>
              <a:t>ADF test returned a p-value &gt; 0.05</a:t>
            </a:r>
            <a:r>
              <a:rPr lang="en-GB" dirty="0"/>
              <a:t>, confirming that differencing or transformation was needed before forecasting.</a:t>
            </a:r>
          </a:p>
          <a:p>
            <a:pPr>
              <a:buFont typeface="Arial" panose="020B0604020202020204" pitchFamily="34" charset="0"/>
              <a:buChar char="•"/>
            </a:pPr>
            <a:r>
              <a:rPr lang="en-GB" dirty="0"/>
              <a:t>The </a:t>
            </a:r>
            <a:r>
              <a:rPr lang="en-GB" b="1" dirty="0"/>
              <a:t>log-transformed series became smoother</a:t>
            </a:r>
            <a:r>
              <a:rPr lang="en-GB" dirty="0"/>
              <a:t>, reducing variance and making it more suitable for ARIMA/SARIMA.</a:t>
            </a:r>
          </a:p>
          <a:p>
            <a:pPr>
              <a:buFont typeface="Arial" panose="020B0604020202020204" pitchFamily="34" charset="0"/>
              <a:buChar char="•"/>
            </a:pPr>
            <a:r>
              <a:rPr lang="en-GB" dirty="0"/>
              <a:t>Seasonal decomposition suggested </a:t>
            </a:r>
            <a:r>
              <a:rPr lang="en-GB" b="1" dirty="0"/>
              <a:t>subtle weekly patterns</a:t>
            </a:r>
            <a:r>
              <a:rPr lang="en-GB" dirty="0"/>
              <a:t>, though not strong enough to dominate the model structure.</a:t>
            </a:r>
          </a:p>
        </p:txBody>
      </p:sp>
      <p:pic>
        <p:nvPicPr>
          <p:cNvPr id="21511" name="Picture 7">
            <a:extLst>
              <a:ext uri="{FF2B5EF4-FFF2-40B4-BE49-F238E27FC236}">
                <a16:creationId xmlns:a16="http://schemas.microsoft.com/office/drawing/2014/main" id="{EB662A61-8F0B-44C0-A6AC-37B4F3285B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5780" y="1988845"/>
            <a:ext cx="3961466" cy="1811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5459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638819" y="622265"/>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SARIMA Model</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7" y="1489215"/>
            <a:ext cx="7591951" cy="2062103"/>
          </a:xfrm>
          <a:prstGeom prst="rect">
            <a:avLst/>
          </a:prstGeom>
          <a:noFill/>
        </p:spPr>
        <p:txBody>
          <a:bodyPr wrap="square">
            <a:spAutoFit/>
          </a:bodyPr>
          <a:lstStyle/>
          <a:p>
            <a:pPr algn="just"/>
            <a:r>
              <a:rPr lang="en-GB" sz="2000" b="1" u="sng" dirty="0">
                <a:cs typeface="Arial" panose="020B0604020202020204" pitchFamily="34" charset="0"/>
              </a:rPr>
              <a:t>Approach</a:t>
            </a:r>
          </a:p>
          <a:p>
            <a:pPr algn="just"/>
            <a:r>
              <a:rPr lang="en-GB" dirty="0"/>
              <a:t>Since weekly patterns were present in the data, I extended ARIMA into SARIMA by adding a seasonal component. Using the ARIMA order as a base, I introduced a seasonal cycle and refitted the model on the log-transformed series. This allowed the model to capture repetitive weekly </a:t>
            </a:r>
            <a:r>
              <a:rPr lang="en-GB" dirty="0" err="1"/>
              <a:t>behaviors</a:t>
            </a:r>
            <a:r>
              <a:rPr lang="en-GB" dirty="0"/>
              <a:t> that ARIMA alone could not represent. After fitting, I produced an 8-step forecast and compared it visually and numerically with actual values.</a:t>
            </a:r>
            <a:endParaRPr lang="en-GB" b="1" u="sng" dirty="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7" y="3645798"/>
            <a:ext cx="7591951" cy="2693045"/>
          </a:xfrm>
          <a:prstGeom prst="rect">
            <a:avLst/>
          </a:prstGeom>
          <a:noFill/>
        </p:spPr>
        <p:txBody>
          <a:bodyPr wrap="square">
            <a:spAutoFit/>
          </a:bodyPr>
          <a:lstStyle/>
          <a:p>
            <a:pPr algn="just"/>
            <a:r>
              <a:rPr lang="en-GB" sz="1800" b="1" u="sng" dirty="0">
                <a:latin typeface="Arial" panose="020B0604020202020204" pitchFamily="34" charset="0"/>
                <a:cs typeface="Arial" panose="020B0604020202020204" pitchFamily="34" charset="0"/>
              </a:rPr>
              <a:t>Insights</a:t>
            </a:r>
          </a:p>
          <a:p>
            <a:pPr algn="just"/>
            <a:endParaRPr lang="en-GB" sz="700" b="1" u="sng"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ARIMA incorporated a </a:t>
            </a:r>
            <a:r>
              <a:rPr kumimoji="0" lang="en-US" altLang="en-US" sz="1800" b="1" i="0" u="none" strike="noStrike" cap="none" normalizeH="0" baseline="0" dirty="0">
                <a:ln>
                  <a:noFill/>
                </a:ln>
                <a:solidFill>
                  <a:schemeClr val="tx1"/>
                </a:solidFill>
                <a:effectLst/>
              </a:rPr>
              <a:t>weekly seasonal cycle</a:t>
            </a:r>
            <a:r>
              <a:rPr kumimoji="0" lang="en-US" altLang="en-US" sz="1800" b="0" i="0" u="none" strike="noStrike" cap="none" normalizeH="0" baseline="0" dirty="0">
                <a:ln>
                  <a:noFill/>
                </a:ln>
                <a:solidFill>
                  <a:schemeClr val="tx1"/>
                </a:solidFill>
                <a:effectLst/>
              </a:rPr>
              <a:t>, helping the model understand recurring demand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Compared to ARIMA, SARIMA slightly improved the handling of </a:t>
            </a:r>
            <a:r>
              <a:rPr kumimoji="0" lang="en-US" altLang="en-US" sz="1800" b="1" i="0" u="none" strike="noStrike" cap="none" normalizeH="0" baseline="0" dirty="0">
                <a:ln>
                  <a:noFill/>
                </a:ln>
                <a:solidFill>
                  <a:schemeClr val="tx1"/>
                </a:solidFill>
                <a:effectLst/>
              </a:rPr>
              <a:t>short spikes and weekly fluctuations</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Error metrics showed </a:t>
            </a:r>
            <a:r>
              <a:rPr kumimoji="0" lang="en-US" altLang="en-US" sz="1800" b="1" i="0" u="none" strike="noStrike" cap="none" normalizeH="0" baseline="0" dirty="0">
                <a:ln>
                  <a:noFill/>
                </a:ln>
                <a:solidFill>
                  <a:schemeClr val="tx1"/>
                </a:solidFill>
                <a:effectLst/>
              </a:rPr>
              <a:t>comparable or better performance</a:t>
            </a:r>
            <a:r>
              <a:rPr kumimoji="0" lang="en-US" altLang="en-US" sz="1800" b="0" i="0" u="none" strike="noStrike" cap="none" normalizeH="0" baseline="0" dirty="0">
                <a:ln>
                  <a:noFill/>
                </a:ln>
                <a:solidFill>
                  <a:schemeClr val="tx1"/>
                </a:solidFill>
                <a:effectLst/>
              </a:rPr>
              <a:t> depending on the forecast window.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visual plot demonstrated smoother, more consistent predictions aligned with the series structure.</a:t>
            </a:r>
          </a:p>
        </p:txBody>
      </p:sp>
      <p:sp>
        <p:nvSpPr>
          <p:cNvPr id="4" name="Rectangle 1">
            <a:extLst>
              <a:ext uri="{FF2B5EF4-FFF2-40B4-BE49-F238E27FC236}">
                <a16:creationId xmlns:a16="http://schemas.microsoft.com/office/drawing/2014/main" id="{4624F94B-7239-4341-855F-B82BCA98A44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2532" name="Picture 4">
            <a:extLst>
              <a:ext uri="{FF2B5EF4-FFF2-40B4-BE49-F238E27FC236}">
                <a16:creationId xmlns:a16="http://schemas.microsoft.com/office/drawing/2014/main" id="{0C76AFA0-651A-471C-AFF9-6A85A91AD0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2488" y="1979910"/>
            <a:ext cx="3964758" cy="18134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680944E-E2B6-46E4-9A20-7D89B436B781}"/>
              </a:ext>
            </a:extLst>
          </p:cNvPr>
          <p:cNvPicPr>
            <a:picLocks noChangeAspect="1"/>
          </p:cNvPicPr>
          <p:nvPr/>
        </p:nvPicPr>
        <p:blipFill>
          <a:blip r:embed="rId4"/>
          <a:stretch>
            <a:fillRect/>
          </a:stretch>
        </p:blipFill>
        <p:spPr>
          <a:xfrm>
            <a:off x="8277706" y="3959604"/>
            <a:ext cx="3293565" cy="1613175"/>
          </a:xfrm>
          <a:prstGeom prst="rect">
            <a:avLst/>
          </a:prstGeom>
        </p:spPr>
      </p:pic>
    </p:spTree>
    <p:extLst>
      <p:ext uri="{BB962C8B-B14F-4D97-AF65-F5344CB8AC3E}">
        <p14:creationId xmlns:p14="http://schemas.microsoft.com/office/powerpoint/2010/main" val="653041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a:extLst>
              <a:ext uri="{FF2B5EF4-FFF2-40B4-BE49-F238E27FC236}">
                <a16:creationId xmlns:a16="http://schemas.microsoft.com/office/drawing/2014/main" id="{EDAD2388-1E65-401A-9E90-C6C9BFABC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0917" y="3353649"/>
            <a:ext cx="4530055" cy="2425831"/>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AE2B8945-5C68-4FB9-B95D-65A6027E00A5}"/>
              </a:ext>
            </a:extLst>
          </p:cNvPr>
          <p:cNvSpPr txBox="1"/>
          <p:nvPr/>
        </p:nvSpPr>
        <p:spPr>
          <a:xfrm>
            <a:off x="638819" y="622265"/>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Model Comparison</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7" y="1489214"/>
            <a:ext cx="10880435" cy="1231106"/>
          </a:xfrm>
          <a:prstGeom prst="rect">
            <a:avLst/>
          </a:prstGeom>
          <a:noFill/>
        </p:spPr>
        <p:txBody>
          <a:bodyPr wrap="square">
            <a:spAutoFit/>
          </a:bodyPr>
          <a:lstStyle/>
          <a:p>
            <a:pPr algn="just"/>
            <a:r>
              <a:rPr lang="en-GB" sz="2000" b="1" u="sng" dirty="0">
                <a:cs typeface="Arial" panose="020B0604020202020204" pitchFamily="34" charset="0"/>
              </a:rPr>
              <a:t>Approach</a:t>
            </a:r>
          </a:p>
          <a:p>
            <a:pPr algn="just"/>
            <a:r>
              <a:rPr lang="en-GB" dirty="0"/>
              <a:t>To understand which model serves the business better, I placed ARIMA and SARIMA side-by-side. I compared their error metrics, checked how closely each followed the actual values, and examined how stable their predictions were over the 8-step horizon. This gave a clear picture of which model generalizes the trend more reliably.</a:t>
            </a:r>
            <a:endParaRPr lang="en-GB" b="1" u="sng" dirty="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7" y="2988692"/>
            <a:ext cx="6350380" cy="3247043"/>
          </a:xfrm>
          <a:prstGeom prst="rect">
            <a:avLst/>
          </a:prstGeom>
          <a:noFill/>
        </p:spPr>
        <p:txBody>
          <a:bodyPr wrap="square">
            <a:spAutoFit/>
          </a:bodyPr>
          <a:lstStyle/>
          <a:p>
            <a:pPr algn="just"/>
            <a:r>
              <a:rPr lang="en-GB" sz="1800" b="1" u="sng" dirty="0">
                <a:latin typeface="Arial" panose="020B0604020202020204" pitchFamily="34" charset="0"/>
                <a:cs typeface="Arial" panose="020B0604020202020204" pitchFamily="34" charset="0"/>
              </a:rPr>
              <a:t>Insights</a:t>
            </a:r>
          </a:p>
          <a:p>
            <a:pPr algn="just"/>
            <a:endParaRPr lang="en-GB" sz="700" b="1" u="sng"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SARIMA showed slightly smoother predictions</a:t>
            </a:r>
            <a:r>
              <a:rPr kumimoji="0" lang="en-US" altLang="en-US" sz="1800" b="0" i="0" u="none" strike="noStrike" cap="none" normalizeH="0" baseline="0" dirty="0">
                <a:ln>
                  <a:noFill/>
                </a:ln>
                <a:solidFill>
                  <a:schemeClr val="tx1"/>
                </a:solidFill>
                <a:effectLst/>
              </a:rPr>
              <a:t>, especially when weekly variations mattered.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ARIMA performed competitively</a:t>
            </a:r>
            <a:r>
              <a:rPr kumimoji="0" lang="en-US" altLang="en-US" sz="1800" b="0" i="0" u="none" strike="noStrike" cap="none" normalizeH="0" baseline="0" dirty="0">
                <a:ln>
                  <a:noFill/>
                </a:ln>
                <a:solidFill>
                  <a:schemeClr val="tx1"/>
                </a:solidFill>
                <a:effectLst/>
              </a:rPr>
              <a:t> and sometimes produced lower errors for shorter forecast horizons.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difference between both models is small, but SARIMA is </a:t>
            </a:r>
            <a:r>
              <a:rPr kumimoji="0" lang="en-US" altLang="en-US" sz="1800" b="1" i="0" u="none" strike="noStrike" cap="none" normalizeH="0" baseline="0" dirty="0">
                <a:ln>
                  <a:noFill/>
                </a:ln>
                <a:solidFill>
                  <a:schemeClr val="tx1"/>
                </a:solidFill>
                <a:effectLst/>
              </a:rPr>
              <a:t>better for capturing recurring weekly patterns</a:t>
            </a:r>
            <a:r>
              <a:rPr kumimoji="0" lang="en-US" altLang="en-US" sz="1800" b="0" i="0" u="none" strike="noStrike" cap="none" normalizeH="0" baseline="0" dirty="0">
                <a:ln>
                  <a:noFill/>
                </a:ln>
                <a:solidFill>
                  <a:schemeClr val="tx1"/>
                </a:solidFill>
                <a:effectLst/>
              </a:rPr>
              <a:t>, while ARIMA works well for general short-term forecasting.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Businesses can rely on </a:t>
            </a:r>
            <a:r>
              <a:rPr kumimoji="0" lang="en-US" altLang="en-US" sz="1800" b="1" i="0" u="none" strike="noStrike" cap="none" normalizeH="0" baseline="0" dirty="0">
                <a:ln>
                  <a:noFill/>
                </a:ln>
                <a:solidFill>
                  <a:schemeClr val="tx1"/>
                </a:solidFill>
                <a:effectLst/>
              </a:rPr>
              <a:t>SARIMA for operational planning</a:t>
            </a:r>
            <a:r>
              <a:rPr kumimoji="0" lang="en-US" altLang="en-US" sz="1800" b="0" i="0" u="none" strike="noStrike" cap="none" normalizeH="0" baseline="0" dirty="0">
                <a:ln>
                  <a:noFill/>
                </a:ln>
                <a:solidFill>
                  <a:schemeClr val="tx1"/>
                </a:solidFill>
                <a:effectLst/>
              </a:rPr>
              <a:t> when weekly cycles matter, and </a:t>
            </a:r>
            <a:r>
              <a:rPr kumimoji="0" lang="en-US" altLang="en-US" sz="1800" b="1" i="0" u="none" strike="noStrike" cap="none" normalizeH="0" baseline="0" dirty="0">
                <a:ln>
                  <a:noFill/>
                </a:ln>
                <a:solidFill>
                  <a:schemeClr val="tx1"/>
                </a:solidFill>
                <a:effectLst/>
              </a:rPr>
              <a:t>ARIMA for quick short-term demand estimates</a:t>
            </a:r>
            <a:r>
              <a:rPr kumimoji="0" lang="en-US" altLang="en-US" sz="1800" b="0" i="0" u="none" strike="noStrike" cap="none" normalizeH="0" baseline="0" dirty="0">
                <a:ln>
                  <a:noFill/>
                </a:ln>
                <a:solidFill>
                  <a:schemeClr val="tx1"/>
                </a:solidFill>
                <a:effectLst/>
              </a:rPr>
              <a:t>.</a:t>
            </a:r>
          </a:p>
        </p:txBody>
      </p:sp>
      <p:sp>
        <p:nvSpPr>
          <p:cNvPr id="4" name="Rectangle 1">
            <a:extLst>
              <a:ext uri="{FF2B5EF4-FFF2-40B4-BE49-F238E27FC236}">
                <a16:creationId xmlns:a16="http://schemas.microsoft.com/office/drawing/2014/main" id="{4624F94B-7239-4341-855F-B82BCA98A44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5521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638819" y="622265"/>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Trend Analysis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sp>
        <p:nvSpPr>
          <p:cNvPr id="49" name="TextBox 48">
            <a:extLst>
              <a:ext uri="{FF2B5EF4-FFF2-40B4-BE49-F238E27FC236}">
                <a16:creationId xmlns:a16="http://schemas.microsoft.com/office/drawing/2014/main" id="{85B8AAA4-91C8-4C46-90B8-4B83D7CCAEBD}"/>
              </a:ext>
            </a:extLst>
          </p:cNvPr>
          <p:cNvSpPr txBox="1"/>
          <p:nvPr/>
        </p:nvSpPr>
        <p:spPr>
          <a:xfrm>
            <a:off x="570537" y="1791217"/>
            <a:ext cx="10880435" cy="1508105"/>
          </a:xfrm>
          <a:prstGeom prst="rect">
            <a:avLst/>
          </a:prstGeom>
          <a:noFill/>
        </p:spPr>
        <p:txBody>
          <a:bodyPr wrap="square">
            <a:spAutoFit/>
          </a:bodyPr>
          <a:lstStyle/>
          <a:p>
            <a:pPr algn="just"/>
            <a:r>
              <a:rPr lang="en-GB" sz="2000" b="1" u="sng" dirty="0">
                <a:cs typeface="Arial" panose="020B0604020202020204" pitchFamily="34" charset="0"/>
              </a:rPr>
              <a:t>Approach</a:t>
            </a:r>
          </a:p>
          <a:p>
            <a:pPr algn="just"/>
            <a:r>
              <a:rPr lang="en-GB" dirty="0"/>
              <a:t>After generating the 8-step forecast, I compared the first and last predicted values to understand how demand is expected to shift. Instead of focusing only on raw numbers, I calculated the percentage change so the trend becomes easier to interpret. This helped me summarize whether the business should prepare for rising demand, falling demand, or a stable period ahead.</a:t>
            </a:r>
            <a:endParaRPr lang="en-GB" b="1" u="sng" dirty="0">
              <a:cs typeface="Arial" panose="020B0604020202020204" pitchFamily="34" charset="0"/>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570537" y="3611682"/>
            <a:ext cx="11006270" cy="1585049"/>
          </a:xfrm>
          <a:prstGeom prst="rect">
            <a:avLst/>
          </a:prstGeom>
          <a:noFill/>
        </p:spPr>
        <p:txBody>
          <a:bodyPr wrap="square">
            <a:spAutoFit/>
          </a:bodyPr>
          <a:lstStyle/>
          <a:p>
            <a:pPr algn="just"/>
            <a:r>
              <a:rPr lang="en-GB" sz="1800" b="1" u="sng" dirty="0">
                <a:latin typeface="Arial" panose="020B0604020202020204" pitchFamily="34" charset="0"/>
                <a:cs typeface="Arial" panose="020B0604020202020204" pitchFamily="34" charset="0"/>
              </a:rPr>
              <a:t>Insights</a:t>
            </a:r>
          </a:p>
          <a:p>
            <a:pPr algn="just"/>
            <a:endParaRPr lang="en-GB" sz="700" b="1" u="sng"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overall forecast trend shows the </a:t>
            </a:r>
            <a:r>
              <a:rPr kumimoji="0" lang="en-US" altLang="en-US" sz="1800" b="1" i="0" u="none" strike="noStrike" cap="none" normalizeH="0" baseline="0" dirty="0">
                <a:ln>
                  <a:noFill/>
                </a:ln>
                <a:solidFill>
                  <a:schemeClr val="tx1"/>
                </a:solidFill>
                <a:effectLst/>
              </a:rPr>
              <a:t>direction of demand movement</a:t>
            </a:r>
            <a:r>
              <a:rPr kumimoji="0" lang="en-US" altLang="en-US" sz="1800" b="0" i="0" u="none" strike="noStrike" cap="none" normalizeH="0" baseline="0" dirty="0">
                <a:ln>
                  <a:noFill/>
                </a:ln>
                <a:solidFill>
                  <a:schemeClr val="tx1"/>
                </a:solidFill>
                <a:effectLst/>
              </a:rPr>
              <a:t> over the next 8 periods.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 </a:t>
            </a:r>
            <a:r>
              <a:rPr kumimoji="0" lang="en-US" altLang="en-US" sz="1800" b="1" i="0" u="none" strike="noStrike" cap="none" normalizeH="0" baseline="0" dirty="0">
                <a:ln>
                  <a:noFill/>
                </a:ln>
                <a:solidFill>
                  <a:schemeClr val="tx1"/>
                </a:solidFill>
                <a:effectLst/>
              </a:rPr>
              <a:t>positive percentage change</a:t>
            </a:r>
            <a:r>
              <a:rPr kumimoji="0" lang="en-US" altLang="en-US" sz="1800" b="0" i="0" u="none" strike="noStrike" cap="none" normalizeH="0" baseline="0" dirty="0">
                <a:ln>
                  <a:noFill/>
                </a:ln>
                <a:solidFill>
                  <a:schemeClr val="tx1"/>
                </a:solidFill>
                <a:effectLst/>
              </a:rPr>
              <a:t> indicates growing demand, useful for planning inventory and staffing.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 </a:t>
            </a:r>
            <a:r>
              <a:rPr kumimoji="0" lang="en-US" altLang="en-US" sz="1800" b="1" i="0" u="none" strike="noStrike" cap="none" normalizeH="0" baseline="0" dirty="0">
                <a:ln>
                  <a:noFill/>
                </a:ln>
                <a:solidFill>
                  <a:schemeClr val="tx1"/>
                </a:solidFill>
                <a:effectLst/>
              </a:rPr>
              <a:t>negative or flat trend</a:t>
            </a:r>
            <a:r>
              <a:rPr kumimoji="0" lang="en-US" altLang="en-US" sz="1800" b="0" i="0" u="none" strike="noStrike" cap="none" normalizeH="0" baseline="0" dirty="0">
                <a:ln>
                  <a:noFill/>
                </a:ln>
                <a:solidFill>
                  <a:schemeClr val="tx1"/>
                </a:solidFill>
                <a:effectLst/>
              </a:rPr>
              <a:t> suggests stable or declining demand, reducing the need for aggressive resource allocation.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This trend metric gives a </a:t>
            </a:r>
            <a:r>
              <a:rPr kumimoji="0" lang="en-US" altLang="en-US" sz="1800" b="1" i="0" u="none" strike="noStrike" cap="none" normalizeH="0" baseline="0" dirty="0">
                <a:ln>
                  <a:noFill/>
                </a:ln>
                <a:solidFill>
                  <a:schemeClr val="tx1"/>
                </a:solidFill>
                <a:effectLst/>
              </a:rPr>
              <a:t>quick business-level signal</a:t>
            </a:r>
            <a:r>
              <a:rPr kumimoji="0" lang="en-US" altLang="en-US" sz="1800" b="0" i="0" u="none" strike="noStrike" cap="none" normalizeH="0" baseline="0" dirty="0">
                <a:ln>
                  <a:noFill/>
                </a:ln>
                <a:solidFill>
                  <a:schemeClr val="tx1"/>
                </a:solidFill>
                <a:effectLst/>
              </a:rPr>
              <a:t> before going into detailed forecasting decisions.</a:t>
            </a:r>
          </a:p>
        </p:txBody>
      </p:sp>
      <p:sp>
        <p:nvSpPr>
          <p:cNvPr id="4" name="Rectangle 1">
            <a:extLst>
              <a:ext uri="{FF2B5EF4-FFF2-40B4-BE49-F238E27FC236}">
                <a16:creationId xmlns:a16="http://schemas.microsoft.com/office/drawing/2014/main" id="{4624F94B-7239-4341-855F-B82BCA98A44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27546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689153" y="622265"/>
            <a:ext cx="11843999" cy="830997"/>
          </a:xfrm>
          <a:prstGeom prst="rect">
            <a:avLst/>
          </a:prstGeom>
          <a:noFill/>
        </p:spPr>
        <p:txBody>
          <a:bodyPr wrap="square">
            <a:spAutoFit/>
          </a:bodyPr>
          <a:lstStyle/>
          <a:p>
            <a:pPr lvl="0"/>
            <a:r>
              <a:rPr lang="en-GB" sz="4800" b="1" u="sng" dirty="0">
                <a:latin typeface="Leelawadee" panose="020B0502040204020203" pitchFamily="34" charset="-34"/>
                <a:ea typeface="Yu Gothic UI Semibold" panose="020B0700000000000000" pitchFamily="34" charset="-128"/>
                <a:cs typeface="Leelawadee" panose="020B0502040204020203" pitchFamily="34" charset="-34"/>
              </a:rPr>
              <a:t>Key observations &amp; Insights</a:t>
            </a:r>
            <a:endParaRPr lang="en-IN" sz="5400" b="1" u="sng" dirty="0">
              <a:latin typeface="Leelawadee" panose="020B0502040204020203" pitchFamily="34" charset="-34"/>
              <a:ea typeface="Yu Gothic UI Semibold" panose="020B0700000000000000" pitchFamily="34" charset="-128"/>
              <a:cs typeface="Leelawadee" panose="020B0502040204020203" pitchFamily="34" charset="-34"/>
            </a:endParaRP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647394" y="1759277"/>
            <a:ext cx="10845524" cy="4401205"/>
          </a:xfrm>
          <a:prstGeom prst="rect">
            <a:avLst/>
          </a:prstGeom>
          <a:noFill/>
        </p:spPr>
        <p:txBody>
          <a:bodyPr wrap="square">
            <a:spAutoFit/>
          </a:bodyPr>
          <a:lstStyle/>
          <a:p>
            <a:pPr>
              <a:buFont typeface="Arial" panose="020B0604020202020204" pitchFamily="34" charset="0"/>
              <a:buChar char="•"/>
            </a:pPr>
            <a:r>
              <a:rPr lang="en-GB" sz="2000" dirty="0"/>
              <a:t>Non-urgent and urgent orders together drive most of the total demand, with non-urgent orders contributing the largest portion.</a:t>
            </a:r>
          </a:p>
          <a:p>
            <a:pPr>
              <a:buFont typeface="Arial" panose="020B0604020202020204" pitchFamily="34" charset="0"/>
              <a:buChar char="•"/>
            </a:pPr>
            <a:r>
              <a:rPr lang="en-GB" sz="2000" dirty="0"/>
              <a:t>Order Type C is the most impactful category among A/B/C, showing the strongest contribution to total orders.</a:t>
            </a:r>
          </a:p>
          <a:p>
            <a:pPr>
              <a:buFont typeface="Arial" panose="020B0604020202020204" pitchFamily="34" charset="0"/>
              <a:buChar char="•"/>
            </a:pPr>
            <a:r>
              <a:rPr lang="en-GB" sz="2000" dirty="0"/>
              <a:t>All three banking order types show strong correlation with total demand, making the banking sector a major driver of overall volume.</a:t>
            </a:r>
          </a:p>
          <a:p>
            <a:pPr>
              <a:buFont typeface="Arial" panose="020B0604020202020204" pitchFamily="34" charset="0"/>
              <a:buChar char="•"/>
            </a:pPr>
            <a:r>
              <a:rPr lang="en-GB" sz="2000" dirty="0"/>
              <a:t>Weekly and daily patterns reveal consistent fluctuations, helping identify peak demand periods for better planning.</a:t>
            </a:r>
          </a:p>
          <a:p>
            <a:pPr>
              <a:buFont typeface="Arial" panose="020B0604020202020204" pitchFamily="34" charset="0"/>
              <a:buChar char="•"/>
            </a:pPr>
            <a:r>
              <a:rPr lang="en-GB" sz="2000" dirty="0"/>
              <a:t>Outlier capping stabilized the dataset and helped improve forecasting accuracy by reducing noise in extreme values.</a:t>
            </a:r>
          </a:p>
          <a:p>
            <a:pPr>
              <a:buFont typeface="Arial" panose="020B0604020202020204" pitchFamily="34" charset="0"/>
              <a:buChar char="•"/>
            </a:pPr>
            <a:r>
              <a:rPr lang="en-GB" sz="2000" dirty="0"/>
              <a:t>Lag features (lag-1, lag-2, lag-3) revealed short-term dependency in order patterns, confirming that past values influence upcoming demand.</a:t>
            </a:r>
          </a:p>
          <a:p>
            <a:pPr>
              <a:buFont typeface="Arial" panose="020B0604020202020204" pitchFamily="34" charset="0"/>
              <a:buChar char="•"/>
            </a:pPr>
            <a:r>
              <a:rPr lang="en-GB" sz="2000" dirty="0"/>
              <a:t>Rolling averages showed smooth demand cycles, indicating that short-term trends exist and can guide operational adjustments.</a:t>
            </a:r>
          </a:p>
        </p:txBody>
      </p:sp>
      <p:sp>
        <p:nvSpPr>
          <p:cNvPr id="4" name="Rectangle 1">
            <a:extLst>
              <a:ext uri="{FF2B5EF4-FFF2-40B4-BE49-F238E27FC236}">
                <a16:creationId xmlns:a16="http://schemas.microsoft.com/office/drawing/2014/main" id="{4624F94B-7239-4341-855F-B82BCA98A44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6113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689153" y="622265"/>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Recommendations</a:t>
            </a: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673238" y="1610410"/>
            <a:ext cx="10845524" cy="501675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Optimize Inventory: </a:t>
            </a:r>
            <a:r>
              <a:rPr kumimoji="0" lang="en-US" altLang="en-US" sz="2000" b="0" i="0" u="none" strike="noStrike" cap="none" normalizeH="0" baseline="0" dirty="0">
                <a:ln>
                  <a:noFill/>
                </a:ln>
                <a:solidFill>
                  <a:schemeClr val="tx1"/>
                </a:solidFill>
                <a:effectLst/>
                <a:latin typeface="Arial" panose="020B0604020202020204" pitchFamily="34" charset="0"/>
              </a:rPr>
              <a:t>Increase stock during high-demand weeks and reduce overstock during low-demand cycles to cut holding costs.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Align Staffing With Demand Peaks: </a:t>
            </a:r>
            <a:r>
              <a:rPr kumimoji="0" lang="en-US" altLang="en-US" sz="2000" b="0" i="0" u="none" strike="noStrike" cap="none" normalizeH="0" baseline="0" dirty="0">
                <a:ln>
                  <a:noFill/>
                </a:ln>
                <a:solidFill>
                  <a:schemeClr val="tx1"/>
                </a:solidFill>
                <a:effectLst/>
                <a:latin typeface="Arial" panose="020B0604020202020204" pitchFamily="34" charset="0"/>
              </a:rPr>
              <a:t>Plan workforce schedules around weekly and daily peaks—especially during high non-urgent and urgent order periods.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Prioritize Urgent </a:t>
            </a:r>
            <a:r>
              <a:rPr kumimoji="0" lang="en-US" altLang="en-US" sz="2000" b="1" i="0" u="none" strike="noStrike" cap="none" normalizeH="0" baseline="0" dirty="0" err="1">
                <a:ln>
                  <a:noFill/>
                </a:ln>
                <a:solidFill>
                  <a:schemeClr val="tx1"/>
                </a:solidFill>
                <a:effectLst/>
                <a:latin typeface="Arial" panose="020B0604020202020204" pitchFamily="34" charset="0"/>
              </a:rPr>
              <a:t>Orders:</a:t>
            </a:r>
            <a:r>
              <a:rPr kumimoji="0" lang="en-US" altLang="en-US" sz="2000" b="0" i="0" u="none" strike="noStrike" cap="none" normalizeH="0" baseline="0" dirty="0" err="1">
                <a:ln>
                  <a:noFill/>
                </a:ln>
                <a:solidFill>
                  <a:schemeClr val="tx1"/>
                </a:solidFill>
                <a:effectLst/>
                <a:latin typeface="Arial" panose="020B0604020202020204" pitchFamily="34" charset="0"/>
              </a:rPr>
              <a:t>Dedicate</a:t>
            </a:r>
            <a:r>
              <a:rPr kumimoji="0" lang="en-US" altLang="en-US" sz="2000" b="0" i="0" u="none" strike="noStrike" cap="none" normalizeH="0" baseline="0" dirty="0">
                <a:ln>
                  <a:noFill/>
                </a:ln>
                <a:solidFill>
                  <a:schemeClr val="tx1"/>
                </a:solidFill>
                <a:effectLst/>
                <a:latin typeface="Arial" panose="020B0604020202020204" pitchFamily="34" charset="0"/>
              </a:rPr>
              <a:t> a small rapid-response team to ensure urgent orders are processed without delay, improving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Strengthen Banking Sector Operations: </a:t>
            </a:r>
            <a:r>
              <a:rPr kumimoji="0" lang="en-US" altLang="en-US" sz="2000" b="0" i="0" u="none" strike="noStrike" cap="none" normalizeH="0" baseline="0" dirty="0">
                <a:ln>
                  <a:noFill/>
                </a:ln>
                <a:solidFill>
                  <a:schemeClr val="tx1"/>
                </a:solidFill>
                <a:effectLst/>
                <a:latin typeface="Arial" panose="020B0604020202020204" pitchFamily="34" charset="0"/>
              </a:rPr>
              <a:t>Since banking orders are major demand drivers, allocate more resources, automation, and monitoring tools to these order types.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Use Forecasting for Monthly Planning: </a:t>
            </a:r>
            <a:r>
              <a:rPr kumimoji="0" lang="en-US" altLang="en-US" sz="2000" b="0" i="0" u="none" strike="noStrike" cap="none" normalizeH="0" baseline="0" dirty="0">
                <a:ln>
                  <a:noFill/>
                </a:ln>
                <a:solidFill>
                  <a:schemeClr val="tx1"/>
                </a:solidFill>
                <a:effectLst/>
                <a:latin typeface="Arial" panose="020B0604020202020204" pitchFamily="34" charset="0"/>
              </a:rPr>
              <a:t>Incorporate ARIMA/SARIMA forecasts into monthly planning dashboards and update forecasts regularly as new data comes in.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Monitor Sector Variability: </a:t>
            </a:r>
            <a:r>
              <a:rPr kumimoji="0" lang="en-US" altLang="en-US" sz="2000" b="0" i="0" u="none" strike="noStrike" cap="none" normalizeH="0" baseline="0" dirty="0">
                <a:ln>
                  <a:noFill/>
                </a:ln>
                <a:solidFill>
                  <a:schemeClr val="tx1"/>
                </a:solidFill>
                <a:effectLst/>
                <a:latin typeface="Arial" panose="020B0604020202020204" pitchFamily="34" charset="0"/>
              </a:rPr>
              <a:t>Track fiscal and traffic-controller orders separately to spot upcoming shifts in workload or emerging demand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Implement Real-Time Alerts: </a:t>
            </a:r>
            <a:r>
              <a:rPr kumimoji="0" lang="en-US" altLang="en-US" sz="2000" b="0" i="0" u="none" strike="noStrike" cap="none" normalizeH="0" baseline="0" dirty="0">
                <a:ln>
                  <a:noFill/>
                </a:ln>
                <a:solidFill>
                  <a:schemeClr val="tx1"/>
                </a:solidFill>
                <a:effectLst/>
                <a:latin typeface="Arial" panose="020B0604020202020204" pitchFamily="34" charset="0"/>
              </a:rPr>
              <a:t>Set up triggers for sudden demand spikes, helping teams respond proactively during unexpected peak days.</a:t>
            </a:r>
          </a:p>
        </p:txBody>
      </p:sp>
      <p:sp>
        <p:nvSpPr>
          <p:cNvPr id="4" name="Rectangle 1">
            <a:extLst>
              <a:ext uri="{FF2B5EF4-FFF2-40B4-BE49-F238E27FC236}">
                <a16:creationId xmlns:a16="http://schemas.microsoft.com/office/drawing/2014/main" id="{4624F94B-7239-4341-855F-B82BCA98A44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98989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AE2B8945-5C68-4FB9-B95D-65A6027E00A5}"/>
              </a:ext>
            </a:extLst>
          </p:cNvPr>
          <p:cNvSpPr txBox="1"/>
          <p:nvPr/>
        </p:nvSpPr>
        <p:spPr>
          <a:xfrm>
            <a:off x="689153" y="622265"/>
            <a:ext cx="11843999" cy="830997"/>
          </a:xfrm>
          <a:prstGeom prst="rect">
            <a:avLst/>
          </a:prstGeom>
          <a:noFill/>
        </p:spPr>
        <p:txBody>
          <a:bodyPr wrap="square">
            <a:spAutoFit/>
          </a:bodyPr>
          <a:lstStyle/>
          <a:p>
            <a:pPr lvl="0"/>
            <a:r>
              <a:rPr lang="en-IN" sz="4800" b="1" u="sng" dirty="0">
                <a:latin typeface="Leelawadee" panose="020B0502040204020203" pitchFamily="34" charset="-34"/>
                <a:ea typeface="Yu Gothic UI Semibold" panose="020B0700000000000000" pitchFamily="34" charset="-128"/>
                <a:cs typeface="Leelawadee" panose="020B0502040204020203" pitchFamily="34" charset="-34"/>
              </a:rPr>
              <a:t>Conclusion</a:t>
            </a:r>
          </a:p>
        </p:txBody>
      </p:sp>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F421493-530A-4D46-A403-521658F6FCDC}"/>
              </a:ext>
            </a:extLst>
          </p:cNvPr>
          <p:cNvSpPr txBox="1"/>
          <p:nvPr/>
        </p:nvSpPr>
        <p:spPr>
          <a:xfrm>
            <a:off x="673238" y="1610410"/>
            <a:ext cx="11113294" cy="4708981"/>
          </a:xfrm>
          <a:prstGeom prst="rect">
            <a:avLst/>
          </a:prstGeom>
          <a:noFill/>
        </p:spPr>
        <p:txBody>
          <a:bodyPr wrap="square">
            <a:spAutoFit/>
          </a:bodyPr>
          <a:lstStyle/>
          <a:p>
            <a:r>
              <a:rPr lang="en-GB" sz="2200" dirty="0"/>
              <a:t>In this project, I walked through the entire journey of understanding and forecasting demand across different order categories and sectors. I began by exploring the dataset deeply, cleaning it, and uncovering early patterns in </a:t>
            </a:r>
            <a:r>
              <a:rPr lang="en-GB" sz="2200" b="1" dirty="0"/>
              <a:t>urgent, non-urgent, and banking orders</a:t>
            </a:r>
            <a:r>
              <a:rPr lang="en-GB" sz="2200" dirty="0"/>
              <a:t>. As I moved through the analysis, clearer relationships started to emerge especially how </a:t>
            </a:r>
            <a:r>
              <a:rPr lang="en-GB" sz="2200" b="1" dirty="0"/>
              <a:t>banking orders</a:t>
            </a:r>
            <a:r>
              <a:rPr lang="en-GB" sz="2200" dirty="0"/>
              <a:t> and </a:t>
            </a:r>
            <a:r>
              <a:rPr lang="en-GB" sz="2200" b="1" dirty="0"/>
              <a:t>Order Type C</a:t>
            </a:r>
            <a:r>
              <a:rPr lang="en-GB" sz="2200" dirty="0"/>
              <a:t> consistently shaped total demand.</a:t>
            </a:r>
          </a:p>
          <a:p>
            <a:endParaRPr lang="en-GB" sz="700" dirty="0"/>
          </a:p>
          <a:p>
            <a:r>
              <a:rPr lang="en-GB" sz="2200" dirty="0"/>
              <a:t>Clustering helped me identify </a:t>
            </a:r>
            <a:r>
              <a:rPr lang="en-GB" sz="2200" b="1" dirty="0"/>
              <a:t>distinct demand </a:t>
            </a:r>
            <a:r>
              <a:rPr lang="en-GB" sz="2200" b="1" dirty="0" err="1"/>
              <a:t>behavior</a:t>
            </a:r>
            <a:r>
              <a:rPr lang="en-GB" sz="2200" b="1" dirty="0"/>
              <a:t> groups</a:t>
            </a:r>
            <a:r>
              <a:rPr lang="en-GB" sz="2200" dirty="0"/>
              <a:t>, while time-series preparation and transformations made the data ready for </a:t>
            </a:r>
            <a:r>
              <a:rPr lang="en-GB" sz="2200" b="1" dirty="0"/>
              <a:t>reliable forecasting</a:t>
            </a:r>
            <a:r>
              <a:rPr lang="en-GB" sz="2200" dirty="0"/>
              <a:t>. Using </a:t>
            </a:r>
            <a:r>
              <a:rPr lang="en-GB" sz="2200" b="1" dirty="0"/>
              <a:t>ARIMA and SARIMA models</a:t>
            </a:r>
            <a:r>
              <a:rPr lang="en-GB" sz="2200" dirty="0"/>
              <a:t>, I compared future predictions and understood not just the numbers but the </a:t>
            </a:r>
            <a:r>
              <a:rPr lang="en-GB" sz="2200" b="1" dirty="0"/>
              <a:t>trend behind them</a:t>
            </a:r>
            <a:r>
              <a:rPr lang="en-GB" sz="2200" dirty="0"/>
              <a:t>, showing how demand is likely to evolve in the near future.</a:t>
            </a:r>
          </a:p>
          <a:p>
            <a:endParaRPr lang="en-GB" sz="700" dirty="0"/>
          </a:p>
          <a:p>
            <a:r>
              <a:rPr lang="en-GB" sz="2200" dirty="0"/>
              <a:t>Overall, the project brought together </a:t>
            </a:r>
            <a:r>
              <a:rPr lang="en-GB" sz="2200" b="1" dirty="0"/>
              <a:t>exploration, </a:t>
            </a:r>
            <a:r>
              <a:rPr lang="en-GB" sz="2200" b="1" dirty="0" err="1"/>
              <a:t>modeling</a:t>
            </a:r>
            <a:r>
              <a:rPr lang="en-GB" sz="2200" b="1" dirty="0"/>
              <a:t>, and business understanding</a:t>
            </a:r>
            <a:r>
              <a:rPr lang="en-GB" sz="2200" dirty="0"/>
              <a:t> in a meaningful way. It reinforced how </a:t>
            </a:r>
            <a:r>
              <a:rPr lang="en-GB" sz="2200" b="1" dirty="0"/>
              <a:t>data-driven forecasting</a:t>
            </a:r>
            <a:r>
              <a:rPr lang="en-GB" sz="2200" dirty="0"/>
              <a:t> can support </a:t>
            </a:r>
            <a:r>
              <a:rPr lang="en-GB" sz="2200" b="1" dirty="0"/>
              <a:t>better planning</a:t>
            </a:r>
            <a:r>
              <a:rPr lang="en-GB" sz="2200" dirty="0"/>
              <a:t>, </a:t>
            </a:r>
            <a:r>
              <a:rPr lang="en-GB" sz="2200" b="1" dirty="0"/>
              <a:t>smarter resource allocation</a:t>
            </a:r>
            <a:r>
              <a:rPr lang="en-GB" sz="2200" dirty="0"/>
              <a:t>, and </a:t>
            </a:r>
            <a:r>
              <a:rPr lang="en-GB" sz="2200" b="1" dirty="0"/>
              <a:t>smoother operations</a:t>
            </a:r>
            <a:r>
              <a:rPr lang="en-GB" sz="2200" dirty="0"/>
              <a:t> for businesses handling high and variable order volumes.</a:t>
            </a:r>
          </a:p>
        </p:txBody>
      </p:sp>
      <p:sp>
        <p:nvSpPr>
          <p:cNvPr id="4" name="Rectangle 1">
            <a:extLst>
              <a:ext uri="{FF2B5EF4-FFF2-40B4-BE49-F238E27FC236}">
                <a16:creationId xmlns:a16="http://schemas.microsoft.com/office/drawing/2014/main" id="{4624F94B-7239-4341-855F-B82BCA98A44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7415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70F99CC-AB91-49F0-B2E0-D0470C9F1A19}"/>
              </a:ext>
            </a:extLst>
          </p:cNvPr>
          <p:cNvGrpSpPr/>
          <p:nvPr/>
        </p:nvGrpSpPr>
        <p:grpSpPr>
          <a:xfrm>
            <a:off x="73160" y="5738071"/>
            <a:ext cx="12118841" cy="923572"/>
            <a:chOff x="73160" y="5738071"/>
            <a:chExt cx="12118841" cy="923572"/>
          </a:xfrm>
        </p:grpSpPr>
        <p:cxnSp>
          <p:nvCxnSpPr>
            <p:cNvPr id="14" name="Straight Connector 13">
              <a:extLst>
                <a:ext uri="{FF2B5EF4-FFF2-40B4-BE49-F238E27FC236}">
                  <a16:creationId xmlns:a16="http://schemas.microsoft.com/office/drawing/2014/main" id="{FDCDE8D5-8737-4756-B0AD-E053D34A6548}"/>
                </a:ext>
              </a:extLst>
            </p:cNvPr>
            <p:cNvCxnSpPr>
              <a:cxnSpLocks/>
            </p:cNvCxnSpPr>
            <p:nvPr/>
          </p:nvCxnSpPr>
          <p:spPr>
            <a:xfrm>
              <a:off x="73160" y="6580930"/>
              <a:ext cx="12054086" cy="80712"/>
            </a:xfrm>
            <a:prstGeom prst="line">
              <a:avLst/>
            </a:prstGeom>
            <a:ln w="76200">
              <a:solidFill>
                <a:schemeClr val="accent5">
                  <a:lumMod val="75000"/>
                </a:schemeClr>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382F3780-F761-41B6-8E35-55EB6A53A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8429" y="5738071"/>
              <a:ext cx="923572" cy="923572"/>
            </a:xfrm>
            <a:prstGeom prst="rect">
              <a:avLst/>
            </a:prstGeom>
          </p:spPr>
        </p:pic>
      </p:grpSp>
      <p:sp>
        <p:nvSpPr>
          <p:cNvPr id="3" name="Rectangle 1">
            <a:extLst>
              <a:ext uri="{FF2B5EF4-FFF2-40B4-BE49-F238E27FC236}">
                <a16:creationId xmlns:a16="http://schemas.microsoft.com/office/drawing/2014/main" id="{3E3E447D-28CE-4DB2-B43A-B1DB9A53EC1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4624F94B-7239-4341-855F-B82BCA98A44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7288BD55-A707-48F5-BC14-E4D7BE06E344}"/>
              </a:ext>
            </a:extLst>
          </p:cNvPr>
          <p:cNvSpPr txBox="1"/>
          <p:nvPr/>
        </p:nvSpPr>
        <p:spPr>
          <a:xfrm>
            <a:off x="3956759" y="2707666"/>
            <a:ext cx="5152241" cy="923330"/>
          </a:xfrm>
          <a:prstGeom prst="rect">
            <a:avLst/>
          </a:prstGeom>
          <a:noFill/>
        </p:spPr>
        <p:txBody>
          <a:bodyPr wrap="square">
            <a:spAutoFit/>
          </a:bodyPr>
          <a:lstStyle/>
          <a:p>
            <a:pPr lvl="0"/>
            <a:r>
              <a:rPr lang="en-IN" sz="5400" b="1" dirty="0">
                <a:latin typeface="Leelawadee" panose="020B0502040204020203" pitchFamily="34" charset="-34"/>
                <a:ea typeface="Yu Gothic UI Semibold" panose="020B0700000000000000" pitchFamily="34" charset="-128"/>
                <a:cs typeface="Leelawadee" panose="020B0502040204020203" pitchFamily="34" charset="-34"/>
              </a:rPr>
              <a:t>Thank you</a:t>
            </a:r>
          </a:p>
        </p:txBody>
      </p:sp>
    </p:spTree>
    <p:extLst>
      <p:ext uri="{BB962C8B-B14F-4D97-AF65-F5344CB8AC3E}">
        <p14:creationId xmlns:p14="http://schemas.microsoft.com/office/powerpoint/2010/main" val="2268069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4247</TotalTime>
  <Words>3157</Words>
  <Application>Microsoft Office PowerPoint</Application>
  <PresentationFormat>Widescreen</PresentationFormat>
  <Paragraphs>177</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MILIN RAO DESHMUKH</dc:creator>
  <cp:lastModifiedBy>MILIN RAO DESHMUKH</cp:lastModifiedBy>
  <cp:revision>137</cp:revision>
  <dcterms:created xsi:type="dcterms:W3CDTF">2024-09-22T14:03:51Z</dcterms:created>
  <dcterms:modified xsi:type="dcterms:W3CDTF">2025-11-22T15:38:20Z</dcterms:modified>
</cp:coreProperties>
</file>